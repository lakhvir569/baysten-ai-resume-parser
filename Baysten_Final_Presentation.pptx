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aleway"/>
      <p:regular r:id="rId24"/>
      <p:bold r:id="rId25"/>
      <p:italic r:id="rId26"/>
      <p:boldItalic r:id="rId27"/>
    </p:embeddedFont>
    <p:embeddedFont>
      <p:font typeface="Raleway ExtraBold"/>
      <p:bold r:id="rId28"/>
      <p:boldItalic r:id="rId29"/>
    </p:embeddedFont>
    <p:embeddedFont>
      <p:font typeface="Roboto"/>
      <p:regular r:id="rId30"/>
      <p:bold r:id="rId31"/>
      <p:italic r:id="rId32"/>
      <p:boldItalic r:id="rId33"/>
    </p:embeddedFont>
    <p:embeddedFont>
      <p:font typeface="Raleway Thin"/>
      <p:regular r:id="rId34"/>
      <p:bold r:id="rId35"/>
      <p:italic r:id="rId36"/>
      <p:boldItalic r:id="rId37"/>
    </p:embeddedFont>
    <p:embeddedFont>
      <p:font typeface="Raleway Medium"/>
      <p:regular r:id="rId38"/>
      <p:bold r:id="rId39"/>
      <p:italic r:id="rId40"/>
      <p:boldItalic r:id="rId41"/>
    </p:embeddedFont>
    <p:embeddedFont>
      <p:font typeface="PT Sans"/>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69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9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Medium-italic.fntdata"/><Relationship Id="rId42" Type="http://schemas.openxmlformats.org/officeDocument/2006/relationships/font" Target="fonts/PTSans-regular.fntdata"/><Relationship Id="rId41" Type="http://schemas.openxmlformats.org/officeDocument/2006/relationships/font" Target="fonts/RalewayMedium-boldItalic.fntdata"/><Relationship Id="rId44" Type="http://schemas.openxmlformats.org/officeDocument/2006/relationships/font" Target="fonts/PTSans-italic.fntdata"/><Relationship Id="rId43" Type="http://schemas.openxmlformats.org/officeDocument/2006/relationships/font" Target="fonts/PTSans-bold.fntdata"/><Relationship Id="rId46" Type="http://schemas.openxmlformats.org/officeDocument/2006/relationships/font" Target="fonts/OpenSans-regular.fntdata"/><Relationship Id="rId45" Type="http://schemas.openxmlformats.org/officeDocument/2006/relationships/font" Target="fonts/PT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33" Type="http://schemas.openxmlformats.org/officeDocument/2006/relationships/font" Target="fonts/Roboto-boldItalic.fntdata"/><Relationship Id="rId32" Type="http://schemas.openxmlformats.org/officeDocument/2006/relationships/font" Target="fonts/Roboto-italic.fntdata"/><Relationship Id="rId35" Type="http://schemas.openxmlformats.org/officeDocument/2006/relationships/font" Target="fonts/RalewayThin-bold.fntdata"/><Relationship Id="rId34" Type="http://schemas.openxmlformats.org/officeDocument/2006/relationships/font" Target="fonts/RalewayThin-regular.fntdata"/><Relationship Id="rId37" Type="http://schemas.openxmlformats.org/officeDocument/2006/relationships/font" Target="fonts/RalewayThin-boldItalic.fntdata"/><Relationship Id="rId36" Type="http://schemas.openxmlformats.org/officeDocument/2006/relationships/font" Target="fonts/RalewayThin-italic.fntdata"/><Relationship Id="rId39" Type="http://schemas.openxmlformats.org/officeDocument/2006/relationships/font" Target="fonts/RalewayMedium-bold.fntdata"/><Relationship Id="rId38" Type="http://schemas.openxmlformats.org/officeDocument/2006/relationships/font" Target="fonts/RalewayMedium-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slide" Target="slides/slide18.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RalewayExtraBold-bold.fntdata"/><Relationship Id="rId27" Type="http://schemas.openxmlformats.org/officeDocument/2006/relationships/font" Target="fonts/Raleway-boldItalic.fntdata"/><Relationship Id="rId29" Type="http://schemas.openxmlformats.org/officeDocument/2006/relationships/font" Target="fonts/RalewayExtra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6fb2dc65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6fb2dc65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49ac83b4f2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49ac83b4f2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86fb2dc65d_0_1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86fb2dc65d_0_1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6fb2dc65d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86fb2dc65d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Spurthi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structured this project as a three-phase roadmap to move from problem identification to a working AI-powered proof of concept. We focused on understanding where and why users were dropping off, built and tested a proof of concept using an LLM-based resume parser, and transitioned that solution into our deliverables.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86fb2dc65d_0_1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86fb2dc65d_0_1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Spurthi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approach was driven by three major findings that consistently came up across both our qualitative and quantitative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manual entry is the primary barrier to onboarding completion. On average, users were spending about 32 minutes filling out their profiles before experiencing any real value from the platform. We also saw a sharp increase in drop-off once users reached more complex sections like work history. The most common feedback we heard was simply that there was ‘too much to fill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the way fields are currently designed is creating friction. Many fields, like date of birth, hobbies, or additional social links, don’t directly contribute to matching outcomes, yet they still demand time and effort from users. And adding too many open-ended fields created uncertainty, and some users weren’t even sure how to respond or whether certain fields applied to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Third, when we looked externally, it was clear that competing platforms have already addressed this issue. Resume autofill and one-click import are now standard expectations, not differentiators. These features dramatically reduce onboarding time and improve completion rates.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when we put these three findings together, the takeaway was very clear: the biggest opportunity is removing friction, specifically by reducing manual entry wherever possible.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86fb2dc65d_0_1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86fb2dc65d_0_1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Spurthi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execute this, we worked in three clearly defined phases.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Phase 1, Research and Diagnosis, we conducted user interviews and analyzed onboarding data to identify exactly where users were struggling. We didn’t just look at overall drop-off but we went field by field to understand which inputs were causing the most friction and why.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Phase 2, Solution Design, Proof of Concept, and Testing, we built an LLM-based resume parser designed to automatically extract key information and populate user profiles. We then validated this through resume and alpha testing, focusing on both accuracy and usability to ensure the solution actually improved the onboarding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in Phase 3, Final Deliverables, we focused on implementation. We delivered production-ready code, along with a comprehensive report and recommendations to help Baysten integrate this into their existing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structuring the project this way, we ensured that every step was aligned and grounded in real user needs. Now I’ll pass it off to Scarlet to talk more about our solution.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86fb2dc65d_0_2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86fb2dc65d_0_2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a:t>
            </a:r>
            <a:r>
              <a:rPr lang="en"/>
              <a:t>anxi</a:t>
            </a:r>
            <a:endParaRPr/>
          </a:p>
          <a:p>
            <a:pPr indent="0" lvl="0" marL="0" rtl="0" algn="l">
              <a:spcBef>
                <a:spcPts val="0"/>
              </a:spcBef>
              <a:spcAft>
                <a:spcPts val="0"/>
              </a:spcAft>
              <a:buNone/>
            </a:pPr>
            <a:r>
              <a:rPr lang="en"/>
              <a:t>Thanks, Spurthi.</a:t>
            </a:r>
            <a:endParaRPr/>
          </a:p>
          <a:p>
            <a:pPr indent="0" lvl="0" marL="0" rtl="0" algn="l">
              <a:lnSpc>
                <a:spcPct val="115000"/>
              </a:lnSpc>
              <a:spcBef>
                <a:spcPts val="1200"/>
              </a:spcBef>
              <a:spcAft>
                <a:spcPts val="0"/>
              </a:spcAft>
              <a:buNone/>
            </a:pPr>
            <a:r>
              <a:rPr lang="en">
                <a:solidFill>
                  <a:schemeClr val="dk1"/>
                </a:solidFill>
              </a:rPr>
              <a:t>so Building on our research and testing, we focused on one key question: how to reduce onboarding friction without sacrificing data quality?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To address this, we designed a solution centered on an LLM-powered resume parser—making profile creation much faster while still preserving the structured data needed for matching.</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b6d88d4f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8b6d88d4f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Yanxi</a:t>
            </a:r>
            <a:endParaRPr/>
          </a:p>
          <a:p>
            <a:pPr indent="0" lvl="0" marL="0" rtl="0" algn="l">
              <a:lnSpc>
                <a:spcPct val="115000"/>
              </a:lnSpc>
              <a:spcBef>
                <a:spcPts val="1200"/>
              </a:spcBef>
              <a:spcAft>
                <a:spcPts val="0"/>
              </a:spcAft>
              <a:buClr>
                <a:schemeClr val="dk1"/>
              </a:buClr>
              <a:buSzPts val="1100"/>
              <a:buFont typeface="Arial"/>
              <a:buNone/>
            </a:pPr>
            <a:r>
              <a:rPr lang="en"/>
              <a:t>Our solution has three connected parts.</a:t>
            </a:r>
            <a:endParaRPr/>
          </a:p>
          <a:p>
            <a:pPr indent="0" lvl="0" marL="0" rtl="0" algn="l">
              <a:lnSpc>
                <a:spcPct val="115000"/>
              </a:lnSpc>
              <a:spcBef>
                <a:spcPts val="1200"/>
              </a:spcBef>
              <a:spcAft>
                <a:spcPts val="0"/>
              </a:spcAft>
              <a:buClr>
                <a:schemeClr val="dk1"/>
              </a:buClr>
              <a:buSzPts val="1100"/>
              <a:buFont typeface="Arial"/>
              <a:buNone/>
            </a:pPr>
            <a:r>
              <a:rPr lang="en"/>
              <a:t>First, the resume parser itself, which accepts PDF, DOCX, and TXT uploads and extracts structured information through a secure backend. This directly reduces the amount of manual entry required from users.</a:t>
            </a:r>
            <a:endParaRPr/>
          </a:p>
          <a:p>
            <a:pPr indent="0" lvl="0" marL="0" rtl="0" algn="l">
              <a:lnSpc>
                <a:spcPct val="115000"/>
              </a:lnSpc>
              <a:spcBef>
                <a:spcPts val="1200"/>
              </a:spcBef>
              <a:spcAft>
                <a:spcPts val="0"/>
              </a:spcAft>
              <a:buNone/>
            </a:pPr>
            <a:r>
              <a:rPr lang="en">
                <a:solidFill>
                  <a:schemeClr val="dk1"/>
                </a:solidFill>
              </a:rPr>
              <a:t>Second, we proposed a </a:t>
            </a:r>
            <a:r>
              <a:rPr b="1" lang="en">
                <a:solidFill>
                  <a:schemeClr val="dk1"/>
                </a:solidFill>
              </a:rPr>
              <a:t>rationalized field structure</a:t>
            </a:r>
            <a:r>
              <a:rPr lang="en">
                <a:solidFill>
                  <a:schemeClr val="dk1"/>
                </a:solidFill>
              </a:rPr>
              <a:t>. Instead of requiring users to complete a large number of fields upfront, we recommend that only email, password, and five skills remain required, while the rest become optional. This lowers the burden at sign-up and helps users complete onboarding with much less friction.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Third, we designed a </a:t>
            </a:r>
            <a:r>
              <a:rPr b="1" lang="en">
                <a:solidFill>
                  <a:schemeClr val="dk1"/>
                </a:solidFill>
              </a:rPr>
              <a:t>redesigned onboarding flow</a:t>
            </a:r>
            <a:r>
              <a:rPr lang="en">
                <a:solidFill>
                  <a:schemeClr val="dk1"/>
                </a:solidFill>
              </a:rPr>
              <a:t> built around a single-page experience with instant resume autofill and edit-based completion. So rather than asking users to type everything from scratch across multiple steps, it can let them upload, review, and edit—making the process feel much lighter and more intuitive.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8b6d88d4f5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8b6d88d4f5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Yanxi</a:t>
            </a:r>
            <a:endParaRPr/>
          </a:p>
          <a:p>
            <a:pPr indent="0" lvl="0" marL="0" rtl="0" algn="l">
              <a:spcBef>
                <a:spcPts val="0"/>
              </a:spcBef>
              <a:spcAft>
                <a:spcPts val="0"/>
              </a:spcAft>
              <a:buNone/>
            </a:pPr>
            <a:r>
              <a:rPr lang="en"/>
              <a:t>To make this more concrete, here’s a short demo of the resume parser in action. As you watch, the key thing to notice is how this shifts onboarding from manual entry to a much faster review-and-edit experience.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86fb2dc65d_0_2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86fb2dc65d_0_2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56aefc9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d56aefc9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86fb2dc65d_0_2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86fb2dc65d_0_2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86fb2dc65d_0_2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86fb2dc65d_0_2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86fb2dc65d_0_2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86fb2dc65d_0_2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897050"/>
            <a:ext cx="6651600" cy="15621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833324" y="3906950"/>
            <a:ext cx="6065400" cy="4146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4858075" y="1948525"/>
            <a:ext cx="3918900" cy="19443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4963434" y="924863"/>
            <a:ext cx="954000" cy="9540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p:nvPr>
            <p:ph idx="3" type="pic"/>
          </p:nvPr>
        </p:nvSpPr>
        <p:spPr>
          <a:xfrm>
            <a:off x="1322338" y="539500"/>
            <a:ext cx="2760600" cy="4064400"/>
          </a:xfrm>
          <a:prstGeom prst="rect">
            <a:avLst/>
          </a:prstGeom>
          <a:noFill/>
          <a:ln>
            <a:noFill/>
          </a:ln>
        </p:spPr>
      </p:sp>
      <p:grpSp>
        <p:nvGrpSpPr>
          <p:cNvPr id="15" name="Google Shape;15;p3"/>
          <p:cNvGrpSpPr/>
          <p:nvPr/>
        </p:nvGrpSpPr>
        <p:grpSpPr>
          <a:xfrm>
            <a:off x="335" y="2150"/>
            <a:ext cx="713300" cy="5139225"/>
            <a:chOff x="7468800" y="0"/>
            <a:chExt cx="1675200" cy="5139225"/>
          </a:xfrm>
        </p:grpSpPr>
        <p:sp>
          <p:nvSpPr>
            <p:cNvPr id="16" name="Google Shape;16;p3"/>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 name="Google Shape;17;p3"/>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 name="Google Shape;18;p3"/>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 name="Google Shape;19;p3"/>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 name="Google Shape;20;p3"/>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 name="Google Shape;21;p3"/>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 name="Google Shape;22;p3"/>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1350150"/>
            <a:ext cx="2776200" cy="11190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 name="Google Shape;25;p4"/>
          <p:cNvSpPr txBox="1"/>
          <p:nvPr>
            <p:ph idx="1" type="body"/>
          </p:nvPr>
        </p:nvSpPr>
        <p:spPr>
          <a:xfrm>
            <a:off x="713225" y="2469150"/>
            <a:ext cx="2776200" cy="1324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 name="Google Shape;28;p5"/>
          <p:cNvSpPr txBox="1"/>
          <p:nvPr>
            <p:ph idx="1" type="subTitle"/>
          </p:nvPr>
        </p:nvSpPr>
        <p:spPr>
          <a:xfrm>
            <a:off x="1628225" y="3279925"/>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2" type="subTitle"/>
          </p:nvPr>
        </p:nvSpPr>
        <p:spPr>
          <a:xfrm>
            <a:off x="1628225" y="1845299"/>
            <a:ext cx="6267600" cy="7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 name="Google Shape;30;p5"/>
          <p:cNvSpPr txBox="1"/>
          <p:nvPr>
            <p:ph idx="3" type="subTitle"/>
          </p:nvPr>
        </p:nvSpPr>
        <p:spPr>
          <a:xfrm>
            <a:off x="1628225" y="1588175"/>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 name="Google Shape;31;p5"/>
          <p:cNvSpPr txBox="1"/>
          <p:nvPr>
            <p:ph idx="4" type="subTitle"/>
          </p:nvPr>
        </p:nvSpPr>
        <p:spPr>
          <a:xfrm>
            <a:off x="1628225" y="3022850"/>
            <a:ext cx="6267600" cy="35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2" name="Google Shape;32;p5"/>
          <p:cNvGrpSpPr/>
          <p:nvPr/>
        </p:nvGrpSpPr>
        <p:grpSpPr>
          <a:xfrm>
            <a:off x="0" y="4661988"/>
            <a:ext cx="9144000" cy="481513"/>
            <a:chOff x="0" y="4661988"/>
            <a:chExt cx="9144000" cy="481513"/>
          </a:xfrm>
        </p:grpSpPr>
        <p:sp>
          <p:nvSpPr>
            <p:cNvPr id="33" name="Google Shape;33;p5"/>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 name="Google Shape;34;p5"/>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 name="Google Shape;35;p5"/>
            <p:cNvSpPr/>
            <p:nvPr/>
          </p:nvSpPr>
          <p:spPr>
            <a:xfrm>
              <a:off x="0" y="4661988"/>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6" name="Google Shape;36;p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9" name="Google Shape;39;p6"/>
          <p:cNvGrpSpPr/>
          <p:nvPr/>
        </p:nvGrpSpPr>
        <p:grpSpPr>
          <a:xfrm>
            <a:off x="0" y="3429300"/>
            <a:ext cx="9141475" cy="1714200"/>
            <a:chOff x="0" y="3429300"/>
            <a:chExt cx="9141475" cy="1714200"/>
          </a:xfrm>
        </p:grpSpPr>
        <p:sp>
          <p:nvSpPr>
            <p:cNvPr id="40" name="Google Shape;40;p6"/>
            <p:cNvSpPr/>
            <p:nvPr/>
          </p:nvSpPr>
          <p:spPr>
            <a:xfrm flipH="1" rot="10800000">
              <a:off x="0" y="4286400"/>
              <a:ext cx="710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 name="Google Shape;41;p6"/>
            <p:cNvSpPr/>
            <p:nvPr/>
          </p:nvSpPr>
          <p:spPr>
            <a:xfrm flipH="1" rot="10800000">
              <a:off x="0" y="34293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 name="Google Shape;42;p6"/>
            <p:cNvSpPr/>
            <p:nvPr/>
          </p:nvSpPr>
          <p:spPr>
            <a:xfrm flipH="1" rot="10800000">
              <a:off x="8430775" y="4286400"/>
              <a:ext cx="710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3" name="Google Shape;43;p6"/>
            <p:cNvSpPr/>
            <p:nvPr/>
          </p:nvSpPr>
          <p:spPr>
            <a:xfrm>
              <a:off x="8430775" y="4125900"/>
              <a:ext cx="710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4" name="Google Shape;44;p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txBox="1"/>
          <p:nvPr>
            <p:ph type="title"/>
          </p:nvPr>
        </p:nvSpPr>
        <p:spPr>
          <a:xfrm>
            <a:off x="713225" y="845825"/>
            <a:ext cx="4294800" cy="123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 name="Google Shape;47;p7"/>
          <p:cNvSpPr txBox="1"/>
          <p:nvPr>
            <p:ph idx="1" type="subTitle"/>
          </p:nvPr>
        </p:nvSpPr>
        <p:spPr>
          <a:xfrm>
            <a:off x="713225" y="2141075"/>
            <a:ext cx="42948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48" name="Google Shape;48;p7"/>
          <p:cNvSpPr/>
          <p:nvPr>
            <p:ph idx="2" type="pic"/>
          </p:nvPr>
        </p:nvSpPr>
        <p:spPr>
          <a:xfrm>
            <a:off x="5479825" y="539500"/>
            <a:ext cx="2950800" cy="4064400"/>
          </a:xfrm>
          <a:prstGeom prst="rect">
            <a:avLst/>
          </a:prstGeom>
          <a:noFill/>
          <a:ln>
            <a:noFill/>
          </a:ln>
        </p:spPr>
      </p:sp>
      <p:grpSp>
        <p:nvGrpSpPr>
          <p:cNvPr id="49" name="Google Shape;49;p7"/>
          <p:cNvGrpSpPr/>
          <p:nvPr/>
        </p:nvGrpSpPr>
        <p:grpSpPr>
          <a:xfrm>
            <a:off x="7717675" y="3429300"/>
            <a:ext cx="1426200" cy="1714200"/>
            <a:chOff x="7717675" y="3429300"/>
            <a:chExt cx="1426200" cy="1714200"/>
          </a:xfrm>
        </p:grpSpPr>
        <p:sp>
          <p:nvSpPr>
            <p:cNvPr id="50" name="Google Shape;50;p7"/>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 name="Google Shape;51;p7"/>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 name="Google Shape;52;p7"/>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3" name="Google Shape;53;p7"/>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6" name="Google Shape;56;p8"/>
          <p:cNvGrpSpPr/>
          <p:nvPr/>
        </p:nvGrpSpPr>
        <p:grpSpPr>
          <a:xfrm>
            <a:off x="8424000" y="-4125"/>
            <a:ext cx="720300" cy="5143600"/>
            <a:chOff x="8424000" y="-4125"/>
            <a:chExt cx="720300" cy="5143600"/>
          </a:xfrm>
        </p:grpSpPr>
        <p:grpSp>
          <p:nvGrpSpPr>
            <p:cNvPr id="57" name="Google Shape;57;p8"/>
            <p:cNvGrpSpPr/>
            <p:nvPr/>
          </p:nvGrpSpPr>
          <p:grpSpPr>
            <a:xfrm>
              <a:off x="8584500" y="-4125"/>
              <a:ext cx="559800" cy="5143600"/>
              <a:chOff x="8584500" y="-4125"/>
              <a:chExt cx="559800" cy="5143600"/>
            </a:xfrm>
          </p:grpSpPr>
          <p:sp>
            <p:nvSpPr>
              <p:cNvPr id="58" name="Google Shape;58;p8"/>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 name="Google Shape;59;p8"/>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 name="Google Shape;60;p8"/>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1" name="Google Shape;61;p8"/>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2" name="Google Shape;62;p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5" name="Google Shape;65;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66" name="Google Shape;66;p9"/>
          <p:cNvGrpSpPr/>
          <p:nvPr/>
        </p:nvGrpSpPr>
        <p:grpSpPr>
          <a:xfrm>
            <a:off x="7717675" y="3429300"/>
            <a:ext cx="1426200" cy="1714200"/>
            <a:chOff x="7717675" y="3429300"/>
            <a:chExt cx="1426200" cy="1714200"/>
          </a:xfrm>
        </p:grpSpPr>
        <p:sp>
          <p:nvSpPr>
            <p:cNvPr id="67" name="Google Shape;67;p9"/>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 name="Google Shape;68;p9"/>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 name="Google Shape;69;p9"/>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0" name="Google Shape;70;p9"/>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p:nvPr>
            <p:ph idx="2" type="pic"/>
          </p:nvPr>
        </p:nvSpPr>
        <p:spPr>
          <a:xfrm>
            <a:off x="0" y="0"/>
            <a:ext cx="9144000" cy="5143500"/>
          </a:xfrm>
          <a:prstGeom prst="rect">
            <a:avLst/>
          </a:prstGeom>
          <a:noFill/>
          <a:ln>
            <a:noFill/>
          </a:ln>
        </p:spPr>
      </p:sp>
      <p:sp>
        <p:nvSpPr>
          <p:cNvPr id="73" name="Google Shape;73;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4" name="Shape 74"/>
        <p:cNvGrpSpPr/>
        <p:nvPr/>
      </p:nvGrpSpPr>
      <p:grpSpPr>
        <a:xfrm>
          <a:off x="0" y="0"/>
          <a:ext cx="0" cy="0"/>
          <a:chOff x="0" y="0"/>
          <a:chExt cx="0" cy="0"/>
        </a:xfrm>
      </p:grpSpPr>
      <p:sp>
        <p:nvSpPr>
          <p:cNvPr id="75" name="Google Shape;75;p11"/>
          <p:cNvSpPr txBox="1"/>
          <p:nvPr>
            <p:ph hasCustomPrompt="1" type="title"/>
          </p:nvPr>
        </p:nvSpPr>
        <p:spPr>
          <a:xfrm>
            <a:off x="2617600" y="2118550"/>
            <a:ext cx="3908700" cy="1017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 name="Google Shape;76;p11"/>
          <p:cNvSpPr txBox="1"/>
          <p:nvPr>
            <p:ph idx="1" type="subTitle"/>
          </p:nvPr>
        </p:nvSpPr>
        <p:spPr>
          <a:xfrm>
            <a:off x="2817525" y="3212000"/>
            <a:ext cx="3509100" cy="4173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7" name="Shape 7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8" name="Shape 78"/>
        <p:cNvGrpSpPr/>
        <p:nvPr/>
      </p:nvGrpSpPr>
      <p:grpSpPr>
        <a:xfrm>
          <a:off x="0" y="0"/>
          <a:ext cx="0" cy="0"/>
          <a:chOff x="0" y="0"/>
          <a:chExt cx="0" cy="0"/>
        </a:xfrm>
      </p:grpSpPr>
      <p:sp>
        <p:nvSpPr>
          <p:cNvPr id="79" name="Google Shape;79;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 name="Google Shape;80;p13"/>
          <p:cNvSpPr txBox="1"/>
          <p:nvPr>
            <p:ph hasCustomPrompt="1" idx="2" type="title"/>
          </p:nvPr>
        </p:nvSpPr>
        <p:spPr>
          <a:xfrm>
            <a:off x="720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hasCustomPrompt="1" idx="3" type="title"/>
          </p:nvPr>
        </p:nvSpPr>
        <p:spPr>
          <a:xfrm>
            <a:off x="4572000" y="1615673"/>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hasCustomPrompt="1" idx="4" type="title"/>
          </p:nvPr>
        </p:nvSpPr>
        <p:spPr>
          <a:xfrm>
            <a:off x="720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hasCustomPrompt="1" idx="5" type="title"/>
          </p:nvPr>
        </p:nvSpPr>
        <p:spPr>
          <a:xfrm>
            <a:off x="4572000" y="2706036"/>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hasCustomPrompt="1" idx="6" type="title"/>
          </p:nvPr>
        </p:nvSpPr>
        <p:spPr>
          <a:xfrm>
            <a:off x="720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hasCustomPrompt="1" idx="7" type="title"/>
          </p:nvPr>
        </p:nvSpPr>
        <p:spPr>
          <a:xfrm>
            <a:off x="4572000" y="3796398"/>
            <a:ext cx="734700" cy="731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7" name="Google Shape;87;p13"/>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8" name="Google Shape;88;p13"/>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9" name="Google Shape;89;p13"/>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13"/>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 name="Google Shape;91;p13"/>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92" name="Google Shape;92;p13"/>
          <p:cNvGrpSpPr/>
          <p:nvPr/>
        </p:nvGrpSpPr>
        <p:grpSpPr>
          <a:xfrm>
            <a:off x="8424000" y="-4125"/>
            <a:ext cx="720300" cy="5143600"/>
            <a:chOff x="8424000" y="-4125"/>
            <a:chExt cx="720300" cy="5143600"/>
          </a:xfrm>
        </p:grpSpPr>
        <p:grpSp>
          <p:nvGrpSpPr>
            <p:cNvPr id="93" name="Google Shape;93;p13"/>
            <p:cNvGrpSpPr/>
            <p:nvPr/>
          </p:nvGrpSpPr>
          <p:grpSpPr>
            <a:xfrm>
              <a:off x="8584500" y="-4125"/>
              <a:ext cx="559800" cy="5143600"/>
              <a:chOff x="8584500" y="-4125"/>
              <a:chExt cx="559800" cy="5143600"/>
            </a:xfrm>
          </p:grpSpPr>
          <p:sp>
            <p:nvSpPr>
              <p:cNvPr id="94" name="Google Shape;94;p13"/>
              <p:cNvSpPr/>
              <p:nvPr/>
            </p:nvSpPr>
            <p:spPr>
              <a:xfrm>
                <a:off x="8584500" y="-4125"/>
                <a:ext cx="559800" cy="171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5" name="Google Shape;95;p13"/>
              <p:cNvSpPr/>
              <p:nvPr/>
            </p:nvSpPr>
            <p:spPr>
              <a:xfrm>
                <a:off x="8584500" y="1710575"/>
                <a:ext cx="559800" cy="1714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 name="Google Shape;96;p13"/>
              <p:cNvSpPr/>
              <p:nvPr/>
            </p:nvSpPr>
            <p:spPr>
              <a:xfrm>
                <a:off x="8584500" y="3424975"/>
                <a:ext cx="559800" cy="17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7" name="Google Shape;97;p13"/>
            <p:cNvSpPr/>
            <p:nvPr/>
          </p:nvSpPr>
          <p:spPr>
            <a:xfrm rot="5400000">
              <a:off x="5934900" y="2489132"/>
              <a:ext cx="5138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8" name="Google Shape;98;p13"/>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99" name="Shape 99"/>
        <p:cNvGrpSpPr/>
        <p:nvPr/>
      </p:nvGrpSpPr>
      <p:grpSpPr>
        <a:xfrm>
          <a:off x="0" y="0"/>
          <a:ext cx="0" cy="0"/>
          <a:chOff x="0" y="0"/>
          <a:chExt cx="0" cy="0"/>
        </a:xfrm>
      </p:grpSpPr>
      <p:sp>
        <p:nvSpPr>
          <p:cNvPr id="100" name="Google Shape;100;p14"/>
          <p:cNvSpPr txBox="1"/>
          <p:nvPr>
            <p:ph type="title"/>
          </p:nvPr>
        </p:nvSpPr>
        <p:spPr>
          <a:xfrm>
            <a:off x="3718663" y="959100"/>
            <a:ext cx="2872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 name="Google Shape;101;p14"/>
          <p:cNvSpPr txBox="1"/>
          <p:nvPr>
            <p:ph idx="1" type="subTitle"/>
          </p:nvPr>
        </p:nvSpPr>
        <p:spPr>
          <a:xfrm>
            <a:off x="3718675" y="2167200"/>
            <a:ext cx="4142400" cy="201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102" name="Google Shape;102;p14"/>
          <p:cNvGrpSpPr/>
          <p:nvPr/>
        </p:nvGrpSpPr>
        <p:grpSpPr>
          <a:xfrm>
            <a:off x="0" y="0"/>
            <a:ext cx="9143875" cy="5143500"/>
            <a:chOff x="0" y="0"/>
            <a:chExt cx="9143875" cy="5143500"/>
          </a:xfrm>
        </p:grpSpPr>
        <p:sp>
          <p:nvSpPr>
            <p:cNvPr id="103" name="Google Shape;103;p14"/>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4" name="Google Shape;104;p14"/>
            <p:cNvSpPr/>
            <p:nvPr/>
          </p:nvSpPr>
          <p:spPr>
            <a:xfrm flipH="1" rot="10800000">
              <a:off x="8430775" y="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 name="Google Shape;105;p14"/>
            <p:cNvSpPr/>
            <p:nvPr/>
          </p:nvSpPr>
          <p:spPr>
            <a:xfrm flipH="1" rot="10800000">
              <a:off x="8430775"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 name="Google Shape;106;p14"/>
            <p:cNvSpPr/>
            <p:nvPr/>
          </p:nvSpPr>
          <p:spPr>
            <a:xfrm flipH="1" rot="10800000">
              <a:off x="843077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7" name="Google Shape;107;p14"/>
            <p:cNvSpPr/>
            <p:nvPr/>
          </p:nvSpPr>
          <p:spPr>
            <a:xfrm flipH="1" rot="10800000">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8" name="Google Shape;108;p14"/>
            <p:cNvSpPr/>
            <p:nvPr/>
          </p:nvSpPr>
          <p:spPr>
            <a:xfrm flipH="1" rot="10800000">
              <a:off x="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09" name="Shape 109"/>
        <p:cNvGrpSpPr/>
        <p:nvPr/>
      </p:nvGrpSpPr>
      <p:grpSpPr>
        <a:xfrm>
          <a:off x="0" y="0"/>
          <a:ext cx="0" cy="0"/>
          <a:chOff x="0" y="0"/>
          <a:chExt cx="0" cy="0"/>
        </a:xfrm>
      </p:grpSpPr>
      <p:sp>
        <p:nvSpPr>
          <p:cNvPr id="110" name="Google Shape;110;p15"/>
          <p:cNvSpPr txBox="1"/>
          <p:nvPr>
            <p:ph type="title"/>
          </p:nvPr>
        </p:nvSpPr>
        <p:spPr>
          <a:xfrm>
            <a:off x="3997325" y="1045900"/>
            <a:ext cx="4433700" cy="1422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15"/>
          <p:cNvSpPr txBox="1"/>
          <p:nvPr>
            <p:ph idx="1" type="subTitle"/>
          </p:nvPr>
        </p:nvSpPr>
        <p:spPr>
          <a:xfrm>
            <a:off x="3997325" y="2430553"/>
            <a:ext cx="4433700" cy="142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2" name="Google Shape;112;p15"/>
          <p:cNvSpPr/>
          <p:nvPr>
            <p:ph idx="2" type="pic"/>
          </p:nvPr>
        </p:nvSpPr>
        <p:spPr>
          <a:xfrm>
            <a:off x="713225" y="554676"/>
            <a:ext cx="2801100" cy="4049400"/>
          </a:xfrm>
          <a:prstGeom prst="rect">
            <a:avLst/>
          </a:prstGeom>
          <a:noFill/>
          <a:ln>
            <a:noFill/>
          </a:ln>
        </p:spPr>
      </p:sp>
      <p:grpSp>
        <p:nvGrpSpPr>
          <p:cNvPr id="113" name="Google Shape;113;p15"/>
          <p:cNvGrpSpPr/>
          <p:nvPr/>
        </p:nvGrpSpPr>
        <p:grpSpPr>
          <a:xfrm>
            <a:off x="0" y="0"/>
            <a:ext cx="713100" cy="5143500"/>
            <a:chOff x="0" y="0"/>
            <a:chExt cx="713100" cy="5143500"/>
          </a:xfrm>
        </p:grpSpPr>
        <p:sp>
          <p:nvSpPr>
            <p:cNvPr id="114" name="Google Shape;114;p15"/>
            <p:cNvSpPr/>
            <p:nvPr/>
          </p:nvSpPr>
          <p:spPr>
            <a:xfrm flipH="1" rot="10800000">
              <a:off x="0" y="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 name="Google Shape;115;p15"/>
            <p:cNvSpPr/>
            <p:nvPr/>
          </p:nvSpPr>
          <p:spPr>
            <a:xfrm flipH="1" rot="10800000">
              <a:off x="0" y="8571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6" name="Google Shape;116;p15"/>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17" name="Google Shape;117;p15"/>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8" name="Google Shape;118;p15"/>
          <p:cNvSpPr/>
          <p:nvPr/>
        </p:nvSpPr>
        <p:spPr>
          <a:xfrm>
            <a:off x="626177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19" name="Shape 119"/>
        <p:cNvGrpSpPr/>
        <p:nvPr/>
      </p:nvGrpSpPr>
      <p:grpSpPr>
        <a:xfrm>
          <a:off x="0" y="0"/>
          <a:ext cx="0" cy="0"/>
          <a:chOff x="0" y="0"/>
          <a:chExt cx="0" cy="0"/>
        </a:xfrm>
      </p:grpSpPr>
      <p:sp>
        <p:nvSpPr>
          <p:cNvPr id="120" name="Google Shape;120;p16"/>
          <p:cNvSpPr txBox="1"/>
          <p:nvPr>
            <p:ph type="title"/>
          </p:nvPr>
        </p:nvSpPr>
        <p:spPr>
          <a:xfrm>
            <a:off x="713225" y="539504"/>
            <a:ext cx="419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 name="Google Shape;121;p16"/>
          <p:cNvSpPr txBox="1"/>
          <p:nvPr>
            <p:ph idx="1" type="body"/>
          </p:nvPr>
        </p:nvSpPr>
        <p:spPr>
          <a:xfrm>
            <a:off x="713225" y="1237654"/>
            <a:ext cx="4195500" cy="3005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Raleway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22" name="Google Shape;122;p16"/>
          <p:cNvGrpSpPr/>
          <p:nvPr/>
        </p:nvGrpSpPr>
        <p:grpSpPr>
          <a:xfrm>
            <a:off x="0" y="4662000"/>
            <a:ext cx="9144000" cy="481500"/>
            <a:chOff x="0" y="4662000"/>
            <a:chExt cx="9144000" cy="481500"/>
          </a:xfrm>
        </p:grpSpPr>
        <p:sp>
          <p:nvSpPr>
            <p:cNvPr id="123" name="Google Shape;123;p16"/>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 name="Google Shape;124;p16"/>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5" name="Google Shape;125;p16"/>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6" name="Google Shape;126;p1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_1">
    <p:spTree>
      <p:nvGrpSpPr>
        <p:cNvPr id="127" name="Shape 127"/>
        <p:cNvGrpSpPr/>
        <p:nvPr/>
      </p:nvGrpSpPr>
      <p:grpSpPr>
        <a:xfrm>
          <a:off x="0" y="0"/>
          <a:ext cx="0" cy="0"/>
          <a:chOff x="0" y="0"/>
          <a:chExt cx="0" cy="0"/>
        </a:xfrm>
      </p:grpSpPr>
      <p:sp>
        <p:nvSpPr>
          <p:cNvPr id="128" name="Google Shape;128;p17"/>
          <p:cNvSpPr txBox="1"/>
          <p:nvPr>
            <p:ph type="title"/>
          </p:nvPr>
        </p:nvSpPr>
        <p:spPr>
          <a:xfrm>
            <a:off x="713225" y="666225"/>
            <a:ext cx="6923100" cy="750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29" name="Google Shape;129;p17"/>
          <p:cNvGrpSpPr/>
          <p:nvPr/>
        </p:nvGrpSpPr>
        <p:grpSpPr>
          <a:xfrm>
            <a:off x="0" y="0"/>
            <a:ext cx="9144000" cy="481500"/>
            <a:chOff x="0" y="4662000"/>
            <a:chExt cx="9144000" cy="481500"/>
          </a:xfrm>
        </p:grpSpPr>
        <p:sp>
          <p:nvSpPr>
            <p:cNvPr id="130" name="Google Shape;130;p17"/>
            <p:cNvSpPr/>
            <p:nvPr/>
          </p:nvSpPr>
          <p:spPr>
            <a:xfrm>
              <a:off x="0" y="4983000"/>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1" name="Google Shape;131;p17"/>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 name="Google Shape;132;p17"/>
            <p:cNvSpPr/>
            <p:nvPr/>
          </p:nvSpPr>
          <p:spPr>
            <a:xfrm>
              <a:off x="0" y="4662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3" name="Google Shape;133;p17"/>
          <p:cNvSpPr/>
          <p:nvPr/>
        </p:nvSpPr>
        <p:spPr>
          <a:xfrm>
            <a:off x="713225" y="476431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 name="Google Shape;134;p17"/>
          <p:cNvSpPr txBox="1"/>
          <p:nvPr>
            <p:ph idx="1" type="subTitle"/>
          </p:nvPr>
        </p:nvSpPr>
        <p:spPr>
          <a:xfrm>
            <a:off x="713225" y="1558450"/>
            <a:ext cx="6951900" cy="2754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35" name="Shape 135"/>
        <p:cNvGrpSpPr/>
        <p:nvPr/>
      </p:nvGrpSpPr>
      <p:grpSpPr>
        <a:xfrm>
          <a:off x="0" y="0"/>
          <a:ext cx="0" cy="0"/>
          <a:chOff x="0" y="0"/>
          <a:chExt cx="0" cy="0"/>
        </a:xfrm>
      </p:grpSpPr>
      <p:sp>
        <p:nvSpPr>
          <p:cNvPr id="136" name="Google Shape;136;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7" name="Google Shape;137;p18"/>
          <p:cNvSpPr txBox="1"/>
          <p:nvPr>
            <p:ph idx="1" type="subTitle"/>
          </p:nvPr>
        </p:nvSpPr>
        <p:spPr>
          <a:xfrm>
            <a:off x="713225"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18"/>
          <p:cNvSpPr txBox="1"/>
          <p:nvPr>
            <p:ph idx="2" type="subTitle"/>
          </p:nvPr>
        </p:nvSpPr>
        <p:spPr>
          <a:xfrm>
            <a:off x="3231361"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9" name="Google Shape;139;p18"/>
          <p:cNvSpPr txBox="1"/>
          <p:nvPr>
            <p:ph idx="3" type="subTitle"/>
          </p:nvPr>
        </p:nvSpPr>
        <p:spPr>
          <a:xfrm>
            <a:off x="5749496" y="2785400"/>
            <a:ext cx="2369700" cy="18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0" name="Google Shape;140;p18"/>
          <p:cNvSpPr txBox="1"/>
          <p:nvPr>
            <p:ph idx="4" type="subTitle"/>
          </p:nvPr>
        </p:nvSpPr>
        <p:spPr>
          <a:xfrm>
            <a:off x="713225"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1" name="Google Shape;141;p18"/>
          <p:cNvSpPr txBox="1"/>
          <p:nvPr>
            <p:ph idx="5" type="subTitle"/>
          </p:nvPr>
        </p:nvSpPr>
        <p:spPr>
          <a:xfrm>
            <a:off x="3231357"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2" name="Google Shape;142;p18"/>
          <p:cNvSpPr txBox="1"/>
          <p:nvPr>
            <p:ph idx="6" type="subTitle"/>
          </p:nvPr>
        </p:nvSpPr>
        <p:spPr>
          <a:xfrm>
            <a:off x="5749488" y="2202125"/>
            <a:ext cx="23697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43" name="Google Shape;143;p18"/>
          <p:cNvGrpSpPr/>
          <p:nvPr/>
        </p:nvGrpSpPr>
        <p:grpSpPr>
          <a:xfrm>
            <a:off x="8795925" y="2411700"/>
            <a:ext cx="364500" cy="2731800"/>
            <a:chOff x="8795925" y="2411700"/>
            <a:chExt cx="364500" cy="2731800"/>
          </a:xfrm>
        </p:grpSpPr>
        <p:sp>
          <p:nvSpPr>
            <p:cNvPr id="144" name="Google Shape;144;p18"/>
            <p:cNvSpPr/>
            <p:nvPr/>
          </p:nvSpPr>
          <p:spPr>
            <a:xfrm flipH="1" rot="10800000">
              <a:off x="8795925"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5" name="Google Shape;145;p18"/>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6" name="Google Shape;146;p18"/>
            <p:cNvSpPr/>
            <p:nvPr/>
          </p:nvSpPr>
          <p:spPr>
            <a:xfrm flipH="1" rot="10800000">
              <a:off x="8795925" y="25722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7" name="Google Shape;147;p18"/>
            <p:cNvSpPr/>
            <p:nvPr/>
          </p:nvSpPr>
          <p:spPr>
            <a:xfrm>
              <a:off x="8795925" y="2411700"/>
              <a:ext cx="3645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48" name="Google Shape;148;p18"/>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49" name="Shape 149"/>
        <p:cNvGrpSpPr/>
        <p:nvPr/>
      </p:nvGrpSpPr>
      <p:grpSpPr>
        <a:xfrm>
          <a:off x="0" y="0"/>
          <a:ext cx="0" cy="0"/>
          <a:chOff x="0" y="0"/>
          <a:chExt cx="0" cy="0"/>
        </a:xfrm>
      </p:grpSpPr>
      <p:sp>
        <p:nvSpPr>
          <p:cNvPr id="150" name="Google Shape;150;p1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1" name="Google Shape;151;p19"/>
          <p:cNvSpPr txBox="1"/>
          <p:nvPr>
            <p:ph idx="1" type="subTitle"/>
          </p:nvPr>
        </p:nvSpPr>
        <p:spPr>
          <a:xfrm>
            <a:off x="7132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2" name="Google Shape;152;p19"/>
          <p:cNvSpPr txBox="1"/>
          <p:nvPr>
            <p:ph idx="2" type="subTitle"/>
          </p:nvPr>
        </p:nvSpPr>
        <p:spPr>
          <a:xfrm>
            <a:off x="4698825" y="1659425"/>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3" name="Google Shape;153;p19"/>
          <p:cNvSpPr txBox="1"/>
          <p:nvPr>
            <p:ph idx="3" type="subTitle"/>
          </p:nvPr>
        </p:nvSpPr>
        <p:spPr>
          <a:xfrm>
            <a:off x="7132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4" name="Google Shape;154;p19"/>
          <p:cNvSpPr txBox="1"/>
          <p:nvPr>
            <p:ph idx="4" type="subTitle"/>
          </p:nvPr>
        </p:nvSpPr>
        <p:spPr>
          <a:xfrm>
            <a:off x="4698825" y="3396200"/>
            <a:ext cx="32862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19"/>
          <p:cNvSpPr txBox="1"/>
          <p:nvPr>
            <p:ph idx="5" type="subTitle"/>
          </p:nvPr>
        </p:nvSpPr>
        <p:spPr>
          <a:xfrm>
            <a:off x="7132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6" name="Google Shape;156;p19"/>
          <p:cNvSpPr txBox="1"/>
          <p:nvPr>
            <p:ph idx="6" type="subTitle"/>
          </p:nvPr>
        </p:nvSpPr>
        <p:spPr>
          <a:xfrm>
            <a:off x="7132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7" name="Google Shape;157;p19"/>
          <p:cNvSpPr txBox="1"/>
          <p:nvPr>
            <p:ph idx="7" type="subTitle"/>
          </p:nvPr>
        </p:nvSpPr>
        <p:spPr>
          <a:xfrm>
            <a:off x="4698825" y="13384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8" name="Google Shape;158;p19"/>
          <p:cNvSpPr txBox="1"/>
          <p:nvPr>
            <p:ph idx="8" type="subTitle"/>
          </p:nvPr>
        </p:nvSpPr>
        <p:spPr>
          <a:xfrm>
            <a:off x="4698825" y="3075275"/>
            <a:ext cx="3286200" cy="40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59" name="Google Shape;159;p19"/>
          <p:cNvGrpSpPr/>
          <p:nvPr/>
        </p:nvGrpSpPr>
        <p:grpSpPr>
          <a:xfrm>
            <a:off x="0" y="3429300"/>
            <a:ext cx="9160425" cy="1714200"/>
            <a:chOff x="0" y="3429300"/>
            <a:chExt cx="9160425" cy="1714200"/>
          </a:xfrm>
        </p:grpSpPr>
        <p:grpSp>
          <p:nvGrpSpPr>
            <p:cNvPr id="160" name="Google Shape;160;p19"/>
            <p:cNvGrpSpPr/>
            <p:nvPr/>
          </p:nvGrpSpPr>
          <p:grpSpPr>
            <a:xfrm>
              <a:off x="8795925" y="3429300"/>
              <a:ext cx="364500" cy="1714200"/>
              <a:chOff x="8795925" y="3429300"/>
              <a:chExt cx="364500" cy="1714200"/>
            </a:xfrm>
          </p:grpSpPr>
          <p:sp>
            <p:nvSpPr>
              <p:cNvPr id="161" name="Google Shape;161;p19"/>
              <p:cNvSpPr/>
              <p:nvPr/>
            </p:nvSpPr>
            <p:spPr>
              <a:xfrm flipH="1" rot="10800000">
                <a:off x="8795925" y="4286400"/>
                <a:ext cx="364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2" name="Google Shape;162;p19"/>
              <p:cNvSpPr/>
              <p:nvPr/>
            </p:nvSpPr>
            <p:spPr>
              <a:xfrm flipH="1" rot="10800000">
                <a:off x="8795925"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63" name="Google Shape;163;p19"/>
            <p:cNvGrpSpPr/>
            <p:nvPr/>
          </p:nvGrpSpPr>
          <p:grpSpPr>
            <a:xfrm>
              <a:off x="0" y="3429300"/>
              <a:ext cx="364500" cy="1714200"/>
              <a:chOff x="0" y="3429300"/>
              <a:chExt cx="364500" cy="1714200"/>
            </a:xfrm>
          </p:grpSpPr>
          <p:sp>
            <p:nvSpPr>
              <p:cNvPr id="164" name="Google Shape;164;p19"/>
              <p:cNvSpPr/>
              <p:nvPr/>
            </p:nvSpPr>
            <p:spPr>
              <a:xfrm flipH="1" rot="10800000">
                <a:off x="0" y="4286400"/>
                <a:ext cx="364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5" name="Google Shape;165;p19"/>
              <p:cNvSpPr/>
              <p:nvPr/>
            </p:nvSpPr>
            <p:spPr>
              <a:xfrm flipH="1" rot="10800000">
                <a:off x="0" y="3429300"/>
                <a:ext cx="364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66" name="Google Shape;166;p19"/>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67" name="Shape 167"/>
        <p:cNvGrpSpPr/>
        <p:nvPr/>
      </p:nvGrpSpPr>
      <p:grpSpPr>
        <a:xfrm>
          <a:off x="0" y="0"/>
          <a:ext cx="0" cy="0"/>
          <a:chOff x="0" y="0"/>
          <a:chExt cx="0" cy="0"/>
        </a:xfrm>
      </p:grpSpPr>
      <p:sp>
        <p:nvSpPr>
          <p:cNvPr id="168" name="Google Shape;168;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0"/>
          <p:cNvSpPr txBox="1"/>
          <p:nvPr>
            <p:ph idx="1" type="subTitle"/>
          </p:nvPr>
        </p:nvSpPr>
        <p:spPr>
          <a:xfrm>
            <a:off x="7131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0" name="Google Shape;170;p20"/>
          <p:cNvSpPr txBox="1"/>
          <p:nvPr>
            <p:ph idx="2" type="subTitle"/>
          </p:nvPr>
        </p:nvSpPr>
        <p:spPr>
          <a:xfrm>
            <a:off x="345525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1" name="Google Shape;171;p20"/>
          <p:cNvSpPr txBox="1"/>
          <p:nvPr>
            <p:ph idx="3" type="subTitle"/>
          </p:nvPr>
        </p:nvSpPr>
        <p:spPr>
          <a:xfrm>
            <a:off x="7131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2" name="Google Shape;172;p20"/>
          <p:cNvSpPr txBox="1"/>
          <p:nvPr>
            <p:ph idx="4" type="subTitle"/>
          </p:nvPr>
        </p:nvSpPr>
        <p:spPr>
          <a:xfrm>
            <a:off x="345525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3" name="Google Shape;173;p20"/>
          <p:cNvSpPr txBox="1"/>
          <p:nvPr>
            <p:ph idx="5" type="subTitle"/>
          </p:nvPr>
        </p:nvSpPr>
        <p:spPr>
          <a:xfrm>
            <a:off x="6197400" y="155776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4" name="Google Shape;174;p20"/>
          <p:cNvSpPr txBox="1"/>
          <p:nvPr>
            <p:ph idx="6" type="subTitle"/>
          </p:nvPr>
        </p:nvSpPr>
        <p:spPr>
          <a:xfrm>
            <a:off x="6197400" y="3288050"/>
            <a:ext cx="22335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5" name="Google Shape;175;p20"/>
          <p:cNvSpPr txBox="1"/>
          <p:nvPr>
            <p:ph idx="7" type="subTitle"/>
          </p:nvPr>
        </p:nvSpPr>
        <p:spPr>
          <a:xfrm>
            <a:off x="713100" y="1307112"/>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6" name="Google Shape;176;p20"/>
          <p:cNvSpPr txBox="1"/>
          <p:nvPr>
            <p:ph idx="8" type="subTitle"/>
          </p:nvPr>
        </p:nvSpPr>
        <p:spPr>
          <a:xfrm>
            <a:off x="345765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7" name="Google Shape;177;p20"/>
          <p:cNvSpPr txBox="1"/>
          <p:nvPr>
            <p:ph idx="9" type="subTitle"/>
          </p:nvPr>
        </p:nvSpPr>
        <p:spPr>
          <a:xfrm>
            <a:off x="6199800" y="1307112"/>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8" name="Google Shape;178;p20"/>
          <p:cNvSpPr txBox="1"/>
          <p:nvPr>
            <p:ph idx="13" type="subTitle"/>
          </p:nvPr>
        </p:nvSpPr>
        <p:spPr>
          <a:xfrm>
            <a:off x="713100" y="3034188"/>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9" name="Google Shape;179;p20"/>
          <p:cNvSpPr txBox="1"/>
          <p:nvPr>
            <p:ph idx="14" type="subTitle"/>
          </p:nvPr>
        </p:nvSpPr>
        <p:spPr>
          <a:xfrm>
            <a:off x="345765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0" name="Google Shape;180;p20"/>
          <p:cNvSpPr txBox="1"/>
          <p:nvPr>
            <p:ph idx="15" type="subTitle"/>
          </p:nvPr>
        </p:nvSpPr>
        <p:spPr>
          <a:xfrm>
            <a:off x="6199800" y="3034193"/>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81" name="Google Shape;181;p20"/>
          <p:cNvGrpSpPr/>
          <p:nvPr/>
        </p:nvGrpSpPr>
        <p:grpSpPr>
          <a:xfrm>
            <a:off x="0" y="4661988"/>
            <a:ext cx="9144000" cy="481513"/>
            <a:chOff x="0" y="4661988"/>
            <a:chExt cx="9144000" cy="481513"/>
          </a:xfrm>
        </p:grpSpPr>
        <p:sp>
          <p:nvSpPr>
            <p:cNvPr id="182" name="Google Shape;182;p20"/>
            <p:cNvSpPr/>
            <p:nvPr/>
          </p:nvSpPr>
          <p:spPr>
            <a:xfrm>
              <a:off x="0" y="49830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 name="Google Shape;183;p20"/>
            <p:cNvSpPr/>
            <p:nvPr/>
          </p:nvSpPr>
          <p:spPr>
            <a:xfrm>
              <a:off x="0" y="48225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4" name="Google Shape;184;p20"/>
            <p:cNvSpPr/>
            <p:nvPr/>
          </p:nvSpPr>
          <p:spPr>
            <a:xfrm>
              <a:off x="0" y="4661988"/>
              <a:ext cx="9144000" cy="160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85" name="Google Shape;185;p20"/>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86" name="Shape 186"/>
        <p:cNvGrpSpPr/>
        <p:nvPr/>
      </p:nvGrpSpPr>
      <p:grpSpPr>
        <a:xfrm>
          <a:off x="0" y="0"/>
          <a:ext cx="0" cy="0"/>
          <a:chOff x="0" y="0"/>
          <a:chExt cx="0" cy="0"/>
        </a:xfrm>
      </p:grpSpPr>
      <p:sp>
        <p:nvSpPr>
          <p:cNvPr id="187" name="Google Shape;187;p21"/>
          <p:cNvSpPr txBox="1"/>
          <p:nvPr>
            <p:ph hasCustomPrompt="1" type="title"/>
          </p:nvPr>
        </p:nvSpPr>
        <p:spPr>
          <a:xfrm>
            <a:off x="3287850" y="2064188"/>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88" name="Google Shape;188;p21"/>
          <p:cNvSpPr txBox="1"/>
          <p:nvPr>
            <p:ph idx="1" type="subTitle"/>
          </p:nvPr>
        </p:nvSpPr>
        <p:spPr>
          <a:xfrm>
            <a:off x="3287850" y="2746902"/>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89" name="Google Shape;189;p21"/>
          <p:cNvSpPr txBox="1"/>
          <p:nvPr>
            <p:ph hasCustomPrompt="1" idx="2" type="title"/>
          </p:nvPr>
        </p:nvSpPr>
        <p:spPr>
          <a:xfrm>
            <a:off x="3287850" y="915175"/>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0" name="Google Shape;190;p21"/>
          <p:cNvSpPr txBox="1"/>
          <p:nvPr>
            <p:ph idx="3" type="subTitle"/>
          </p:nvPr>
        </p:nvSpPr>
        <p:spPr>
          <a:xfrm>
            <a:off x="3287850" y="1597879"/>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91" name="Google Shape;191;p21"/>
          <p:cNvSpPr txBox="1"/>
          <p:nvPr>
            <p:ph hasCustomPrompt="1" idx="4" type="title"/>
          </p:nvPr>
        </p:nvSpPr>
        <p:spPr>
          <a:xfrm>
            <a:off x="3287850" y="3213200"/>
            <a:ext cx="25683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2" name="Google Shape;192;p21"/>
          <p:cNvSpPr txBox="1"/>
          <p:nvPr>
            <p:ph idx="5" type="subTitle"/>
          </p:nvPr>
        </p:nvSpPr>
        <p:spPr>
          <a:xfrm>
            <a:off x="3287850" y="3895925"/>
            <a:ext cx="2568300" cy="332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193" name="Google Shape;193;p21"/>
          <p:cNvGrpSpPr/>
          <p:nvPr/>
        </p:nvGrpSpPr>
        <p:grpSpPr>
          <a:xfrm>
            <a:off x="3847050" y="378431"/>
            <a:ext cx="1449900" cy="4386056"/>
            <a:chOff x="3847050" y="378431"/>
            <a:chExt cx="1449900" cy="4386056"/>
          </a:xfrm>
        </p:grpSpPr>
        <p:sp>
          <p:nvSpPr>
            <p:cNvPr id="194" name="Google Shape;194;p21"/>
            <p:cNvSpPr/>
            <p:nvPr/>
          </p:nvSpPr>
          <p:spPr>
            <a:xfrm>
              <a:off x="3847050" y="378431"/>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5" name="Google Shape;195;p21"/>
            <p:cNvSpPr/>
            <p:nvPr/>
          </p:nvSpPr>
          <p:spPr>
            <a:xfrm>
              <a:off x="3847050" y="46039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96" name="Shape 196"/>
        <p:cNvGrpSpPr/>
        <p:nvPr/>
      </p:nvGrpSpPr>
      <p:grpSpPr>
        <a:xfrm>
          <a:off x="0" y="0"/>
          <a:ext cx="0" cy="0"/>
          <a:chOff x="0" y="0"/>
          <a:chExt cx="0" cy="0"/>
        </a:xfrm>
      </p:grpSpPr>
      <p:sp>
        <p:nvSpPr>
          <p:cNvPr id="197" name="Google Shape;197;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98" name="Google Shape;198;p22"/>
          <p:cNvGrpSpPr/>
          <p:nvPr/>
        </p:nvGrpSpPr>
        <p:grpSpPr>
          <a:xfrm>
            <a:off x="0" y="275063"/>
            <a:ext cx="9144000" cy="4868438"/>
            <a:chOff x="0" y="275063"/>
            <a:chExt cx="9144000" cy="4868438"/>
          </a:xfrm>
        </p:grpSpPr>
        <p:sp>
          <p:nvSpPr>
            <p:cNvPr id="199" name="Google Shape;199;p22"/>
            <p:cNvSpPr/>
            <p:nvPr/>
          </p:nvSpPr>
          <p:spPr>
            <a:xfrm>
              <a:off x="713225" y="2750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00" name="Google Shape;200;p22"/>
            <p:cNvGrpSpPr/>
            <p:nvPr/>
          </p:nvGrpSpPr>
          <p:grpSpPr>
            <a:xfrm>
              <a:off x="0" y="4822500"/>
              <a:ext cx="9144000" cy="321000"/>
              <a:chOff x="0" y="4822500"/>
              <a:chExt cx="9144000" cy="321000"/>
            </a:xfrm>
          </p:grpSpPr>
          <p:sp>
            <p:nvSpPr>
              <p:cNvPr id="201" name="Google Shape;201;p22"/>
              <p:cNvSpPr/>
              <p:nvPr/>
            </p:nvSpPr>
            <p:spPr>
              <a:xfrm>
                <a:off x="0" y="4983000"/>
                <a:ext cx="9144000" cy="1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2" name="Google Shape;202;p22"/>
              <p:cNvSpPr/>
              <p:nvPr/>
            </p:nvSpPr>
            <p:spPr>
              <a:xfrm>
                <a:off x="0" y="4822500"/>
                <a:ext cx="9144000" cy="160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203" name="Google Shape;203;p22"/>
          <p:cNvGrpSpPr/>
          <p:nvPr/>
        </p:nvGrpSpPr>
        <p:grpSpPr>
          <a:xfrm>
            <a:off x="8430775" y="0"/>
            <a:ext cx="713318" cy="857100"/>
            <a:chOff x="8430775" y="0"/>
            <a:chExt cx="713318" cy="857100"/>
          </a:xfrm>
        </p:grpSpPr>
        <p:sp>
          <p:nvSpPr>
            <p:cNvPr id="204" name="Google Shape;204;p22"/>
            <p:cNvSpPr/>
            <p:nvPr/>
          </p:nvSpPr>
          <p:spPr>
            <a:xfrm flipH="1" rot="10800000">
              <a:off x="8787393" y="0"/>
              <a:ext cx="356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5" name="Google Shape;205;p22"/>
            <p:cNvSpPr/>
            <p:nvPr/>
          </p:nvSpPr>
          <p:spPr>
            <a:xfrm flipH="1" rot="10800000">
              <a:off x="8430775" y="0"/>
              <a:ext cx="356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06" name="Shape 206"/>
        <p:cNvGrpSpPr/>
        <p:nvPr/>
      </p:nvGrpSpPr>
      <p:grpSpPr>
        <a:xfrm>
          <a:off x="0" y="0"/>
          <a:ext cx="0" cy="0"/>
          <a:chOff x="0" y="0"/>
          <a:chExt cx="0" cy="0"/>
        </a:xfrm>
      </p:grpSpPr>
      <p:sp>
        <p:nvSpPr>
          <p:cNvPr id="207" name="Google Shape;207;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08" name="Google Shape;208;p23"/>
          <p:cNvGrpSpPr/>
          <p:nvPr/>
        </p:nvGrpSpPr>
        <p:grpSpPr>
          <a:xfrm>
            <a:off x="-100" y="3429300"/>
            <a:ext cx="1433325" cy="1714200"/>
            <a:chOff x="-100" y="3429300"/>
            <a:chExt cx="1433325" cy="1714200"/>
          </a:xfrm>
        </p:grpSpPr>
        <p:sp>
          <p:nvSpPr>
            <p:cNvPr id="209" name="Google Shape;209;p23"/>
            <p:cNvSpPr/>
            <p:nvPr/>
          </p:nvSpPr>
          <p:spPr>
            <a:xfrm>
              <a:off x="720125" y="42864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0" name="Google Shape;210;p23"/>
            <p:cNvSpPr/>
            <p:nvPr/>
          </p:nvSpPr>
          <p:spPr>
            <a:xfrm>
              <a:off x="-100"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1" name="Google Shape;211;p23"/>
            <p:cNvSpPr/>
            <p:nvPr/>
          </p:nvSpPr>
          <p:spPr>
            <a:xfrm>
              <a:off x="-100" y="34293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12" name="Google Shape;212;p23"/>
          <p:cNvSpPr/>
          <p:nvPr/>
        </p:nvSpPr>
        <p:spPr>
          <a:xfrm>
            <a:off x="713000"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13" name="Shape 213"/>
        <p:cNvGrpSpPr/>
        <p:nvPr/>
      </p:nvGrpSpPr>
      <p:grpSpPr>
        <a:xfrm>
          <a:off x="0" y="0"/>
          <a:ext cx="0" cy="0"/>
          <a:chOff x="0" y="0"/>
          <a:chExt cx="0" cy="0"/>
        </a:xfrm>
      </p:grpSpPr>
      <p:sp>
        <p:nvSpPr>
          <p:cNvPr id="214" name="Google Shape;214;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15" name="Google Shape;215;p24"/>
          <p:cNvGrpSpPr/>
          <p:nvPr/>
        </p:nvGrpSpPr>
        <p:grpSpPr>
          <a:xfrm>
            <a:off x="0" y="0"/>
            <a:ext cx="9144000" cy="5160150"/>
            <a:chOff x="0" y="0"/>
            <a:chExt cx="9144000" cy="5160150"/>
          </a:xfrm>
        </p:grpSpPr>
        <p:grpSp>
          <p:nvGrpSpPr>
            <p:cNvPr id="216" name="Google Shape;216;p24"/>
            <p:cNvGrpSpPr/>
            <p:nvPr/>
          </p:nvGrpSpPr>
          <p:grpSpPr>
            <a:xfrm>
              <a:off x="0" y="3445950"/>
              <a:ext cx="568500" cy="1714200"/>
              <a:chOff x="0" y="3445950"/>
              <a:chExt cx="568500" cy="1714200"/>
            </a:xfrm>
          </p:grpSpPr>
          <p:sp>
            <p:nvSpPr>
              <p:cNvPr id="217" name="Google Shape;217;p24"/>
              <p:cNvSpPr/>
              <p:nvPr/>
            </p:nvSpPr>
            <p:spPr>
              <a:xfrm flipH="1" rot="10800000">
                <a:off x="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8" name="Google Shape;218;p24"/>
              <p:cNvSpPr/>
              <p:nvPr/>
            </p:nvSpPr>
            <p:spPr>
              <a:xfrm flipH="1" rot="10800000">
                <a:off x="0" y="344595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19" name="Google Shape;219;p24"/>
            <p:cNvGrpSpPr/>
            <p:nvPr/>
          </p:nvGrpSpPr>
          <p:grpSpPr>
            <a:xfrm>
              <a:off x="8575500" y="0"/>
              <a:ext cx="568500" cy="5160150"/>
              <a:chOff x="8575500" y="0"/>
              <a:chExt cx="568500" cy="5160150"/>
            </a:xfrm>
          </p:grpSpPr>
          <p:sp>
            <p:nvSpPr>
              <p:cNvPr id="220" name="Google Shape;220;p24"/>
              <p:cNvSpPr/>
              <p:nvPr/>
            </p:nvSpPr>
            <p:spPr>
              <a:xfrm flipH="1" rot="10800000">
                <a:off x="8575500" y="4303050"/>
                <a:ext cx="5685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1" name="Google Shape;221;p24"/>
              <p:cNvSpPr/>
              <p:nvPr/>
            </p:nvSpPr>
            <p:spPr>
              <a:xfrm flipH="1" rot="10800000">
                <a:off x="8575500" y="3445950"/>
                <a:ext cx="5685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2" name="Google Shape;222;p24"/>
              <p:cNvSpPr/>
              <p:nvPr/>
            </p:nvSpPr>
            <p:spPr>
              <a:xfrm flipH="1" rot="10800000">
                <a:off x="8575500" y="0"/>
                <a:ext cx="5685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23" name="Google Shape;223;p24"/>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24" name="Shape 224"/>
        <p:cNvGrpSpPr/>
        <p:nvPr/>
      </p:nvGrpSpPr>
      <p:grpSpPr>
        <a:xfrm>
          <a:off x="0" y="0"/>
          <a:ext cx="0" cy="0"/>
          <a:chOff x="0" y="0"/>
          <a:chExt cx="0" cy="0"/>
        </a:xfrm>
      </p:grpSpPr>
      <p:sp>
        <p:nvSpPr>
          <p:cNvPr id="225" name="Google Shape;225;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26" name="Google Shape;226;p25"/>
          <p:cNvGrpSpPr/>
          <p:nvPr/>
        </p:nvGrpSpPr>
        <p:grpSpPr>
          <a:xfrm>
            <a:off x="0" y="0"/>
            <a:ext cx="9145075" cy="5143500"/>
            <a:chOff x="0" y="0"/>
            <a:chExt cx="9145075" cy="5143500"/>
          </a:xfrm>
        </p:grpSpPr>
        <p:sp>
          <p:nvSpPr>
            <p:cNvPr id="227" name="Google Shape;227;p25"/>
            <p:cNvSpPr/>
            <p:nvPr/>
          </p:nvSpPr>
          <p:spPr>
            <a:xfrm flipH="1" rot="10800000">
              <a:off x="0"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8" name="Google Shape;228;p25"/>
            <p:cNvSpPr/>
            <p:nvPr/>
          </p:nvSpPr>
          <p:spPr>
            <a:xfrm flipH="1" rot="10800000">
              <a:off x="0" y="3429300"/>
              <a:ext cx="714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9" name="Google Shape;229;p25"/>
            <p:cNvSpPr/>
            <p:nvPr/>
          </p:nvSpPr>
          <p:spPr>
            <a:xfrm flipH="1" rot="10800000">
              <a:off x="0" y="257220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0" name="Google Shape;230;p25"/>
            <p:cNvSpPr/>
            <p:nvPr/>
          </p:nvSpPr>
          <p:spPr>
            <a:xfrm flipH="1" rot="10800000">
              <a:off x="8430775" y="0"/>
              <a:ext cx="714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1" name="Google Shape;231;p25"/>
            <p:cNvSpPr/>
            <p:nvPr/>
          </p:nvSpPr>
          <p:spPr>
            <a:xfrm flipH="1" rot="10800000">
              <a:off x="8430775" y="4286400"/>
              <a:ext cx="714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32" name="Google Shape;232;p25"/>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233" name="Shape 233"/>
        <p:cNvGrpSpPr/>
        <p:nvPr/>
      </p:nvGrpSpPr>
      <p:grpSpPr>
        <a:xfrm>
          <a:off x="0" y="0"/>
          <a:ext cx="0" cy="0"/>
          <a:chOff x="0" y="0"/>
          <a:chExt cx="0" cy="0"/>
        </a:xfrm>
      </p:grpSpPr>
      <p:sp>
        <p:nvSpPr>
          <p:cNvPr id="234" name="Google Shape;234;p2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35" name="Google Shape;235;p26"/>
          <p:cNvGrpSpPr/>
          <p:nvPr/>
        </p:nvGrpSpPr>
        <p:grpSpPr>
          <a:xfrm>
            <a:off x="0" y="0"/>
            <a:ext cx="9143875" cy="5143500"/>
            <a:chOff x="0" y="0"/>
            <a:chExt cx="9143875" cy="5143500"/>
          </a:xfrm>
        </p:grpSpPr>
        <p:sp>
          <p:nvSpPr>
            <p:cNvPr id="236" name="Google Shape;236;p26"/>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7" name="Google Shape;237;p26"/>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8" name="Google Shape;238;p26"/>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9" name="Google Shape;239;p26"/>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0" name="Google Shape;240;p26"/>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41" name="Google Shape;241;p26"/>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242" name="Shape 242"/>
        <p:cNvGrpSpPr/>
        <p:nvPr/>
      </p:nvGrpSpPr>
      <p:grpSpPr>
        <a:xfrm>
          <a:off x="0" y="0"/>
          <a:ext cx="0" cy="0"/>
          <a:chOff x="0" y="0"/>
          <a:chExt cx="0" cy="0"/>
        </a:xfrm>
      </p:grpSpPr>
      <p:sp>
        <p:nvSpPr>
          <p:cNvPr id="243" name="Google Shape;243;p2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44" name="Google Shape;244;p27"/>
          <p:cNvGrpSpPr/>
          <p:nvPr/>
        </p:nvGrpSpPr>
        <p:grpSpPr>
          <a:xfrm>
            <a:off x="0" y="3275875"/>
            <a:ext cx="9144000" cy="1863925"/>
            <a:chOff x="0" y="3275875"/>
            <a:chExt cx="9144000" cy="1863925"/>
          </a:xfrm>
        </p:grpSpPr>
        <p:sp>
          <p:nvSpPr>
            <p:cNvPr id="245" name="Google Shape;245;p27"/>
            <p:cNvSpPr/>
            <p:nvPr/>
          </p:nvSpPr>
          <p:spPr>
            <a:xfrm flipH="1" rot="10800000">
              <a:off x="0" y="4282700"/>
              <a:ext cx="7083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46" name="Google Shape;246;p27"/>
            <p:cNvGrpSpPr/>
            <p:nvPr/>
          </p:nvGrpSpPr>
          <p:grpSpPr>
            <a:xfrm>
              <a:off x="8435700" y="3275875"/>
              <a:ext cx="708300" cy="1863925"/>
              <a:chOff x="8435700" y="3275875"/>
              <a:chExt cx="708300" cy="1863925"/>
            </a:xfrm>
          </p:grpSpPr>
          <p:sp>
            <p:nvSpPr>
              <p:cNvPr id="247" name="Google Shape;247;p27"/>
              <p:cNvSpPr/>
              <p:nvPr/>
            </p:nvSpPr>
            <p:spPr>
              <a:xfrm>
                <a:off x="8435700" y="32758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8" name="Google Shape;248;p27"/>
              <p:cNvSpPr/>
              <p:nvPr/>
            </p:nvSpPr>
            <p:spPr>
              <a:xfrm flipH="1" rot="10800000">
                <a:off x="8435700" y="4282700"/>
                <a:ext cx="7083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9" name="Google Shape;249;p27"/>
              <p:cNvSpPr/>
              <p:nvPr/>
            </p:nvSpPr>
            <p:spPr>
              <a:xfrm flipH="1" rot="10800000">
                <a:off x="8435700" y="3436375"/>
                <a:ext cx="7083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50" name="Google Shape;250;p27"/>
            <p:cNvSpPr/>
            <p:nvPr/>
          </p:nvSpPr>
          <p:spPr>
            <a:xfrm>
              <a:off x="0" y="4132975"/>
              <a:ext cx="7083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51" name="Google Shape;251;p27"/>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52" name="Shape 252"/>
        <p:cNvGrpSpPr/>
        <p:nvPr/>
      </p:nvGrpSpPr>
      <p:grpSpPr>
        <a:xfrm>
          <a:off x="0" y="0"/>
          <a:ext cx="0" cy="0"/>
          <a:chOff x="0" y="0"/>
          <a:chExt cx="0" cy="0"/>
        </a:xfrm>
      </p:grpSpPr>
      <p:sp>
        <p:nvSpPr>
          <p:cNvPr id="253" name="Google Shape;253;p28"/>
          <p:cNvSpPr txBox="1"/>
          <p:nvPr>
            <p:ph type="title"/>
          </p:nvPr>
        </p:nvSpPr>
        <p:spPr>
          <a:xfrm>
            <a:off x="713225" y="737850"/>
            <a:ext cx="4645200" cy="134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4" name="Google Shape;254;p28"/>
          <p:cNvSpPr txBox="1"/>
          <p:nvPr>
            <p:ph idx="1" type="subTitle"/>
          </p:nvPr>
        </p:nvSpPr>
        <p:spPr>
          <a:xfrm>
            <a:off x="713225" y="2141075"/>
            <a:ext cx="46452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255" name="Google Shape;255;p28"/>
          <p:cNvSpPr/>
          <p:nvPr>
            <p:ph idx="2" type="pic"/>
          </p:nvPr>
        </p:nvSpPr>
        <p:spPr>
          <a:xfrm>
            <a:off x="5479825" y="539500"/>
            <a:ext cx="2950800" cy="4064400"/>
          </a:xfrm>
          <a:prstGeom prst="rect">
            <a:avLst/>
          </a:prstGeom>
          <a:noFill/>
          <a:ln>
            <a:noFill/>
          </a:ln>
        </p:spPr>
      </p:sp>
      <p:grpSp>
        <p:nvGrpSpPr>
          <p:cNvPr id="256" name="Google Shape;256;p28"/>
          <p:cNvGrpSpPr/>
          <p:nvPr/>
        </p:nvGrpSpPr>
        <p:grpSpPr>
          <a:xfrm>
            <a:off x="7717675" y="3429300"/>
            <a:ext cx="1426200" cy="1714200"/>
            <a:chOff x="7717675" y="3429300"/>
            <a:chExt cx="1426200" cy="1714200"/>
          </a:xfrm>
        </p:grpSpPr>
        <p:sp>
          <p:nvSpPr>
            <p:cNvPr id="257" name="Google Shape;257;p28"/>
            <p:cNvSpPr/>
            <p:nvPr/>
          </p:nvSpPr>
          <p:spPr>
            <a:xfrm>
              <a:off x="8430775" y="428640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8" name="Google Shape;258;p28"/>
            <p:cNvSpPr/>
            <p:nvPr/>
          </p:nvSpPr>
          <p:spPr>
            <a:xfrm>
              <a:off x="8430775"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9" name="Google Shape;259;p28"/>
            <p:cNvSpPr/>
            <p:nvPr/>
          </p:nvSpPr>
          <p:spPr>
            <a:xfrm>
              <a:off x="7717675"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60" name="Google Shape;260;p28"/>
          <p:cNvSpPr/>
          <p:nvPr/>
        </p:nvSpPr>
        <p:spPr>
          <a:xfrm>
            <a:off x="713225" y="5394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1" name="Shape 261"/>
        <p:cNvGrpSpPr/>
        <p:nvPr/>
      </p:nvGrpSpPr>
      <p:grpSpPr>
        <a:xfrm>
          <a:off x="0" y="0"/>
          <a:ext cx="0" cy="0"/>
          <a:chOff x="0" y="0"/>
          <a:chExt cx="0" cy="0"/>
        </a:xfrm>
      </p:grpSpPr>
      <p:sp>
        <p:nvSpPr>
          <p:cNvPr id="262" name="Google Shape;262;p29"/>
          <p:cNvSpPr txBox="1"/>
          <p:nvPr>
            <p:ph type="title"/>
          </p:nvPr>
        </p:nvSpPr>
        <p:spPr>
          <a:xfrm>
            <a:off x="4253750" y="769400"/>
            <a:ext cx="39558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3" name="Google Shape;263;p29"/>
          <p:cNvSpPr txBox="1"/>
          <p:nvPr>
            <p:ph idx="1" type="subTitle"/>
          </p:nvPr>
        </p:nvSpPr>
        <p:spPr>
          <a:xfrm>
            <a:off x="4253750" y="1859617"/>
            <a:ext cx="3684000" cy="1276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4" name="Google Shape;264;p29"/>
          <p:cNvSpPr txBox="1"/>
          <p:nvPr/>
        </p:nvSpPr>
        <p:spPr>
          <a:xfrm>
            <a:off x="4253760" y="3320333"/>
            <a:ext cx="3684000" cy="76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b="1" lang="en" sz="1200" u="sng">
                <a:solidFill>
                  <a:schemeClr val="hlink"/>
                </a:solid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infographics &amp; images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grpSp>
        <p:nvGrpSpPr>
          <p:cNvPr id="266" name="Google Shape;266;p30"/>
          <p:cNvGrpSpPr/>
          <p:nvPr/>
        </p:nvGrpSpPr>
        <p:grpSpPr>
          <a:xfrm>
            <a:off x="335" y="2150"/>
            <a:ext cx="713300" cy="5139225"/>
            <a:chOff x="7468800" y="0"/>
            <a:chExt cx="1675200" cy="5139225"/>
          </a:xfrm>
        </p:grpSpPr>
        <p:sp>
          <p:nvSpPr>
            <p:cNvPr id="267" name="Google Shape;267;p30"/>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8" name="Google Shape;268;p30"/>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9" name="Google Shape;269;p30"/>
            <p:cNvSpPr/>
            <p:nvPr/>
          </p:nvSpPr>
          <p:spPr>
            <a:xfrm>
              <a:off x="7468800" y="2487375"/>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0" name="Google Shape;270;p30"/>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1" name="Google Shape;271;p30"/>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2" name="Google Shape;272;p30"/>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3" name="Google Shape;273;p30"/>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4" name="Shape 274"/>
        <p:cNvGrpSpPr/>
        <p:nvPr/>
      </p:nvGrpSpPr>
      <p:grpSpPr>
        <a:xfrm>
          <a:off x="0" y="0"/>
          <a:ext cx="0" cy="0"/>
          <a:chOff x="0" y="0"/>
          <a:chExt cx="0" cy="0"/>
        </a:xfrm>
      </p:grpSpPr>
      <p:grpSp>
        <p:nvGrpSpPr>
          <p:cNvPr id="275" name="Google Shape;275;p31"/>
          <p:cNvGrpSpPr/>
          <p:nvPr/>
        </p:nvGrpSpPr>
        <p:grpSpPr>
          <a:xfrm>
            <a:off x="0" y="0"/>
            <a:ext cx="9143875" cy="5143500"/>
            <a:chOff x="0" y="0"/>
            <a:chExt cx="9143875" cy="5143500"/>
          </a:xfrm>
        </p:grpSpPr>
        <p:sp>
          <p:nvSpPr>
            <p:cNvPr id="276" name="Google Shape;276;p31"/>
            <p:cNvSpPr/>
            <p:nvPr/>
          </p:nvSpPr>
          <p:spPr>
            <a:xfrm flipH="1" rot="10800000">
              <a:off x="0" y="4286400"/>
              <a:ext cx="7131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7" name="Google Shape;277;p31"/>
            <p:cNvSpPr/>
            <p:nvPr/>
          </p:nvSpPr>
          <p:spPr>
            <a:xfrm flipH="1" rot="10800000">
              <a:off x="0" y="34293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8" name="Google Shape;278;p31"/>
            <p:cNvSpPr/>
            <p:nvPr/>
          </p:nvSpPr>
          <p:spPr>
            <a:xfrm flipH="1" rot="10800000">
              <a:off x="8430775" y="0"/>
              <a:ext cx="7131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9" name="Google Shape;279;p31"/>
            <p:cNvSpPr/>
            <p:nvPr/>
          </p:nvSpPr>
          <p:spPr>
            <a:xfrm flipH="1" rot="10800000">
              <a:off x="8430775" y="857100"/>
              <a:ext cx="7131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0" name="Google Shape;280;p31"/>
            <p:cNvSpPr/>
            <p:nvPr/>
          </p:nvSpPr>
          <p:spPr>
            <a:xfrm>
              <a:off x="8430775" y="1714200"/>
              <a:ext cx="7131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81" name="Google Shape;281;p31"/>
          <p:cNvSpPr/>
          <p:nvPr/>
        </p:nvSpPr>
        <p:spPr>
          <a:xfrm>
            <a:off x="713225" y="274663"/>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1pPr>
            <a:lvl2pPr lvl="1"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2pPr>
            <a:lvl3pPr lvl="2"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3pPr>
            <a:lvl4pPr lvl="3"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4pPr>
            <a:lvl5pPr lvl="4"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5pPr>
            <a:lvl6pPr lvl="5"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6pPr>
            <a:lvl7pPr lvl="6"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7pPr>
            <a:lvl8pPr lvl="7"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8pPr>
            <a:lvl9pPr lvl="8" rtl="0">
              <a:spcBef>
                <a:spcPts val="0"/>
              </a:spcBef>
              <a:spcAft>
                <a:spcPts val="0"/>
              </a:spcAft>
              <a:buClr>
                <a:schemeClr val="dk1"/>
              </a:buClr>
              <a:buSzPts val="3000"/>
              <a:buFont typeface="Raleway ExtraBold"/>
              <a:buNone/>
              <a:defRPr sz="3000">
                <a:solidFill>
                  <a:schemeClr val="dk1"/>
                </a:solidFill>
                <a:latin typeface="Raleway ExtraBold"/>
                <a:ea typeface="Raleway ExtraBold"/>
                <a:cs typeface="Raleway ExtraBold"/>
                <a:sym typeface="Raleway Extra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indent="-304800" lvl="1" marL="914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indent="-304800" lvl="2" marL="1371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indent="-304800" lvl="3" marL="1828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indent="-304800" lvl="4" marL="22860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indent="-304800" lvl="5" marL="27432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indent="-304800" lvl="6" marL="32004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indent="-304800" lvl="7" marL="36576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indent="-304800" lvl="8" marL="411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14.jpg"/><Relationship Id="rId6" Type="http://schemas.openxmlformats.org/officeDocument/2006/relationships/image" Target="../media/image10.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hyperlink" Target="http://drive.google.com/file/d/1YVyho29C_O_3FSK9wp7FBhj4jJ4lwb87/vie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p32"/>
          <p:cNvGrpSpPr/>
          <p:nvPr/>
        </p:nvGrpSpPr>
        <p:grpSpPr>
          <a:xfrm>
            <a:off x="9043690" y="2150"/>
            <a:ext cx="100512" cy="5139225"/>
            <a:chOff x="7468800" y="0"/>
            <a:chExt cx="1675200" cy="5139225"/>
          </a:xfrm>
        </p:grpSpPr>
        <p:grpSp>
          <p:nvGrpSpPr>
            <p:cNvPr id="287" name="Google Shape;287;p32"/>
            <p:cNvGrpSpPr/>
            <p:nvPr/>
          </p:nvGrpSpPr>
          <p:grpSpPr>
            <a:xfrm>
              <a:off x="7468800" y="0"/>
              <a:ext cx="1675200" cy="5139225"/>
              <a:chOff x="7468800" y="0"/>
              <a:chExt cx="1675200" cy="5139225"/>
            </a:xfrm>
          </p:grpSpPr>
          <p:sp>
            <p:nvSpPr>
              <p:cNvPr id="288" name="Google Shape;288;p32"/>
              <p:cNvSpPr/>
              <p:nvPr/>
            </p:nvSpPr>
            <p:spPr>
              <a:xfrm>
                <a:off x="7468800" y="3464996"/>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9" name="Google Shape;289;p32"/>
              <p:cNvSpPr/>
              <p:nvPr/>
            </p:nvSpPr>
            <p:spPr>
              <a:xfrm>
                <a:off x="7468800" y="4282125"/>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0" name="Google Shape;290;p32"/>
              <p:cNvSpPr/>
              <p:nvPr/>
            </p:nvSpPr>
            <p:spPr>
              <a:xfrm>
                <a:off x="7468800" y="2647875"/>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1" name="Google Shape;291;p32"/>
              <p:cNvSpPr/>
              <p:nvPr/>
            </p:nvSpPr>
            <p:spPr>
              <a:xfrm flipH="1" rot="10800000">
                <a:off x="7468800" y="857329"/>
                <a:ext cx="1675200" cy="816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2" name="Google Shape;292;p32"/>
              <p:cNvSpPr/>
              <p:nvPr/>
            </p:nvSpPr>
            <p:spPr>
              <a:xfrm flipH="1" rot="10800000">
                <a:off x="7468800" y="0"/>
                <a:ext cx="16752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3" name="Google Shape;293;p32"/>
              <p:cNvSpPr/>
              <p:nvPr/>
            </p:nvSpPr>
            <p:spPr>
              <a:xfrm flipH="1" rot="10800000">
                <a:off x="7468800" y="1674450"/>
                <a:ext cx="1675200" cy="816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94" name="Google Shape;294;p32"/>
            <p:cNvSpPr/>
            <p:nvPr/>
          </p:nvSpPr>
          <p:spPr>
            <a:xfrm>
              <a:off x="7468800" y="2491500"/>
              <a:ext cx="16752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p:txBody>
        </p:sp>
      </p:grpSp>
      <p:sp>
        <p:nvSpPr>
          <p:cNvPr id="295" name="Google Shape;295;p32"/>
          <p:cNvSpPr txBox="1"/>
          <p:nvPr>
            <p:ph type="ctrTitle"/>
          </p:nvPr>
        </p:nvSpPr>
        <p:spPr>
          <a:xfrm>
            <a:off x="692725" y="1172000"/>
            <a:ext cx="8071800" cy="164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Baysten Onboarding Optimization</a:t>
            </a:r>
            <a:endParaRPr sz="4200"/>
          </a:p>
        </p:txBody>
      </p:sp>
      <p:sp>
        <p:nvSpPr>
          <p:cNvPr id="296" name="Google Shape;296;p32"/>
          <p:cNvSpPr txBox="1"/>
          <p:nvPr>
            <p:ph idx="1" type="subTitle"/>
          </p:nvPr>
        </p:nvSpPr>
        <p:spPr>
          <a:xfrm>
            <a:off x="747075" y="2724050"/>
            <a:ext cx="72453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Raleway"/>
                <a:ea typeface="Raleway"/>
                <a:cs typeface="Raleway"/>
                <a:sym typeface="Raleway"/>
              </a:rPr>
              <a:t>Reducing User Drop-Off Through AI-Powered Resume Parsing</a:t>
            </a:r>
            <a:endParaRPr b="1" sz="1600">
              <a:latin typeface="Raleway"/>
              <a:ea typeface="Raleway"/>
              <a:cs typeface="Raleway"/>
              <a:sym typeface="Raleway"/>
            </a:endParaRPr>
          </a:p>
        </p:txBody>
      </p:sp>
      <p:sp>
        <p:nvSpPr>
          <p:cNvPr id="297" name="Google Shape;297;p32"/>
          <p:cNvSpPr/>
          <p:nvPr/>
        </p:nvSpPr>
        <p:spPr>
          <a:xfrm>
            <a:off x="833327" y="773016"/>
            <a:ext cx="1449900" cy="50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298" name="Google Shape;298;p32"/>
          <p:cNvPicPr preferRelativeResize="0"/>
          <p:nvPr/>
        </p:nvPicPr>
        <p:blipFill>
          <a:blip r:embed="rId3">
            <a:alphaModFix/>
          </a:blip>
          <a:stretch>
            <a:fillRect/>
          </a:stretch>
        </p:blipFill>
        <p:spPr>
          <a:xfrm>
            <a:off x="833325" y="211750"/>
            <a:ext cx="454125" cy="454125"/>
          </a:xfrm>
          <a:prstGeom prst="rect">
            <a:avLst/>
          </a:prstGeom>
          <a:noFill/>
          <a:ln>
            <a:noFill/>
          </a:ln>
        </p:spPr>
      </p:pic>
      <p:pic>
        <p:nvPicPr>
          <p:cNvPr id="299" name="Google Shape;299;p32"/>
          <p:cNvPicPr preferRelativeResize="0"/>
          <p:nvPr/>
        </p:nvPicPr>
        <p:blipFill>
          <a:blip r:embed="rId4">
            <a:alphaModFix/>
          </a:blip>
          <a:stretch>
            <a:fillRect/>
          </a:stretch>
        </p:blipFill>
        <p:spPr>
          <a:xfrm>
            <a:off x="6641000" y="155750"/>
            <a:ext cx="2186251" cy="510125"/>
          </a:xfrm>
          <a:prstGeom prst="rect">
            <a:avLst/>
          </a:prstGeom>
          <a:noFill/>
          <a:ln>
            <a:noFill/>
          </a:ln>
        </p:spPr>
      </p:pic>
      <p:sp>
        <p:nvSpPr>
          <p:cNvPr id="300" name="Google Shape;300;p32"/>
          <p:cNvSpPr txBox="1"/>
          <p:nvPr>
            <p:ph idx="1" type="subTitle"/>
          </p:nvPr>
        </p:nvSpPr>
        <p:spPr>
          <a:xfrm>
            <a:off x="747075" y="3378925"/>
            <a:ext cx="8134200" cy="4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aleway"/>
                <a:ea typeface="Raleway"/>
                <a:cs typeface="Raleway"/>
                <a:sym typeface="Raleway"/>
              </a:rPr>
              <a:t>Team Members:</a:t>
            </a:r>
            <a:r>
              <a:rPr lang="en"/>
              <a:t> </a:t>
            </a:r>
            <a:r>
              <a:rPr lang="en"/>
              <a:t>Lakhvir Sohal, Spurthi Jayadeva, Naisha Khera, Yanxi Lu, Himaja Reddy Kandati</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Raleway"/>
                <a:ea typeface="Raleway"/>
                <a:cs typeface="Raleway"/>
                <a:sym typeface="Raleway"/>
              </a:rPr>
              <a:t>Date: </a:t>
            </a:r>
            <a:r>
              <a:rPr lang="en"/>
              <a:t>April 15th,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ph type="title"/>
          </p:nvPr>
        </p:nvSpPr>
        <p:spPr>
          <a:xfrm>
            <a:off x="593525" y="536800"/>
            <a:ext cx="7365000" cy="55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Michigan Ross Team</a:t>
            </a:r>
            <a:endParaRPr/>
          </a:p>
        </p:txBody>
      </p:sp>
      <p:pic>
        <p:nvPicPr>
          <p:cNvPr id="306" name="Google Shape;306;p33" title="Spurthi_Headshot (1).jpeg"/>
          <p:cNvPicPr preferRelativeResize="0"/>
          <p:nvPr>
            <p:ph idx="2" type="pic"/>
          </p:nvPr>
        </p:nvPicPr>
        <p:blipFill rotWithShape="1">
          <a:blip r:embed="rId3">
            <a:alphaModFix/>
          </a:blip>
          <a:srcRect b="20336" l="0" r="0" t="10022"/>
          <a:stretch/>
        </p:blipFill>
        <p:spPr>
          <a:xfrm>
            <a:off x="7120850" y="1168350"/>
            <a:ext cx="1044000" cy="1090800"/>
          </a:xfrm>
          <a:prstGeom prst="roundRect">
            <a:avLst>
              <a:gd fmla="val 0" name="adj"/>
            </a:avLst>
          </a:prstGeom>
          <a:noFill/>
          <a:ln>
            <a:noFill/>
          </a:ln>
        </p:spPr>
      </p:pic>
      <p:pic>
        <p:nvPicPr>
          <p:cNvPr id="307" name="Google Shape;307;p33" title="Screenshot 2025-10-08 at 15.43.47.png"/>
          <p:cNvPicPr preferRelativeResize="0"/>
          <p:nvPr>
            <p:ph idx="3" type="pic"/>
          </p:nvPr>
        </p:nvPicPr>
        <p:blipFill rotWithShape="1">
          <a:blip r:embed="rId4">
            <a:alphaModFix/>
          </a:blip>
          <a:srcRect b="29018" l="0" r="0" t="0"/>
          <a:stretch/>
        </p:blipFill>
        <p:spPr>
          <a:xfrm>
            <a:off x="1884136" y="1174762"/>
            <a:ext cx="1044000" cy="1090800"/>
          </a:xfrm>
          <a:prstGeom prst="roundRect">
            <a:avLst>
              <a:gd fmla="val 0" name="adj"/>
            </a:avLst>
          </a:prstGeom>
          <a:noFill/>
          <a:ln>
            <a:noFill/>
          </a:ln>
        </p:spPr>
      </p:pic>
      <p:pic>
        <p:nvPicPr>
          <p:cNvPr id="308" name="Google Shape;308;p33" title="LinkedIn DP - 2026.jpg"/>
          <p:cNvPicPr preferRelativeResize="0"/>
          <p:nvPr>
            <p:ph idx="4" type="pic"/>
          </p:nvPr>
        </p:nvPicPr>
        <p:blipFill rotWithShape="1">
          <a:blip r:embed="rId5">
            <a:alphaModFix/>
          </a:blip>
          <a:srcRect b="17092" l="16690" r="9460" t="21138"/>
          <a:stretch/>
        </p:blipFill>
        <p:spPr>
          <a:xfrm>
            <a:off x="3213943" y="1168350"/>
            <a:ext cx="1044000" cy="1097100"/>
          </a:xfrm>
          <a:prstGeom prst="roundRect">
            <a:avLst>
              <a:gd fmla="val 0" name="adj"/>
            </a:avLst>
          </a:prstGeom>
          <a:noFill/>
          <a:ln>
            <a:noFill/>
          </a:ln>
        </p:spPr>
      </p:pic>
      <p:cxnSp>
        <p:nvCxnSpPr>
          <p:cNvPr id="309" name="Google Shape;309;p33"/>
          <p:cNvCxnSpPr/>
          <p:nvPr/>
        </p:nvCxnSpPr>
        <p:spPr>
          <a:xfrm>
            <a:off x="677325" y="2628580"/>
            <a:ext cx="7692600" cy="0"/>
          </a:xfrm>
          <a:prstGeom prst="straightConnector1">
            <a:avLst/>
          </a:prstGeom>
          <a:noFill/>
          <a:ln cap="flat" cmpd="sng" w="25825">
            <a:solidFill>
              <a:srgbClr val="44546A"/>
            </a:solidFill>
            <a:prstDash val="solid"/>
            <a:round/>
            <a:headEnd len="med" w="med" type="none"/>
            <a:tailEnd len="med" w="med" type="none"/>
          </a:ln>
        </p:spPr>
      </p:cxnSp>
      <p:sp>
        <p:nvSpPr>
          <p:cNvPr id="310" name="Google Shape;310;p33"/>
          <p:cNvSpPr txBox="1"/>
          <p:nvPr/>
        </p:nvSpPr>
        <p:spPr>
          <a:xfrm>
            <a:off x="1884136" y="2275121"/>
            <a:ext cx="1044000" cy="3588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b="1" lang="en" sz="889">
                <a:solidFill>
                  <a:srgbClr val="000000"/>
                </a:solidFill>
                <a:latin typeface="Raleway"/>
                <a:ea typeface="Raleway"/>
                <a:cs typeface="Raleway"/>
                <a:sym typeface="Raleway"/>
              </a:rPr>
              <a:t>Lakhvir Sohal</a:t>
            </a:r>
            <a:endParaRPr b="1" sz="889">
              <a:solidFill>
                <a:srgbClr val="000000"/>
              </a:solidFill>
              <a:latin typeface="Raleway"/>
              <a:ea typeface="Raleway"/>
              <a:cs typeface="Raleway"/>
              <a:sym typeface="Raleway"/>
            </a:endParaRPr>
          </a:p>
        </p:txBody>
      </p:sp>
      <p:sp>
        <p:nvSpPr>
          <p:cNvPr id="311" name="Google Shape;311;p33"/>
          <p:cNvSpPr txBox="1"/>
          <p:nvPr/>
        </p:nvSpPr>
        <p:spPr>
          <a:xfrm>
            <a:off x="3213943" y="2280506"/>
            <a:ext cx="1044000" cy="3258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b="1" lang="en" sz="986">
                <a:solidFill>
                  <a:srgbClr val="000000"/>
                </a:solidFill>
                <a:latin typeface="Raleway"/>
                <a:ea typeface="Raleway"/>
                <a:cs typeface="Raleway"/>
                <a:sym typeface="Raleway"/>
              </a:rPr>
              <a:t>Naisha Khera</a:t>
            </a:r>
            <a:endParaRPr b="1" sz="986">
              <a:solidFill>
                <a:srgbClr val="000000"/>
              </a:solidFill>
              <a:latin typeface="Raleway"/>
              <a:ea typeface="Raleway"/>
              <a:cs typeface="Raleway"/>
              <a:sym typeface="Raleway"/>
            </a:endParaRPr>
          </a:p>
        </p:txBody>
      </p:sp>
      <p:sp>
        <p:nvSpPr>
          <p:cNvPr id="312" name="Google Shape;312;p33"/>
          <p:cNvSpPr txBox="1"/>
          <p:nvPr/>
        </p:nvSpPr>
        <p:spPr>
          <a:xfrm>
            <a:off x="4352347" y="2282098"/>
            <a:ext cx="1502100" cy="3189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b="1" lang="en" sz="986">
                <a:solidFill>
                  <a:srgbClr val="000000"/>
                </a:solidFill>
                <a:latin typeface="Raleway"/>
                <a:ea typeface="Raleway"/>
                <a:cs typeface="Raleway"/>
                <a:sym typeface="Raleway"/>
              </a:rPr>
              <a:t>Himaja Reddy Kandati</a:t>
            </a:r>
            <a:endParaRPr b="1" sz="986">
              <a:solidFill>
                <a:srgbClr val="000000"/>
              </a:solidFill>
              <a:latin typeface="Raleway"/>
              <a:ea typeface="Raleway"/>
              <a:cs typeface="Raleway"/>
              <a:sym typeface="Raleway"/>
            </a:endParaRPr>
          </a:p>
        </p:txBody>
      </p:sp>
      <p:sp>
        <p:nvSpPr>
          <p:cNvPr id="313" name="Google Shape;313;p33"/>
          <p:cNvSpPr txBox="1"/>
          <p:nvPr/>
        </p:nvSpPr>
        <p:spPr>
          <a:xfrm>
            <a:off x="5973991" y="2282741"/>
            <a:ext cx="699900" cy="3258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b="1" lang="en" sz="986">
                <a:solidFill>
                  <a:srgbClr val="000000"/>
                </a:solidFill>
                <a:latin typeface="Raleway"/>
                <a:ea typeface="Raleway"/>
                <a:cs typeface="Raleway"/>
                <a:sym typeface="Raleway"/>
              </a:rPr>
              <a:t>Yanxi Lu</a:t>
            </a:r>
            <a:endParaRPr b="1" sz="986">
              <a:solidFill>
                <a:srgbClr val="000000"/>
              </a:solidFill>
              <a:latin typeface="Raleway"/>
              <a:ea typeface="Raleway"/>
              <a:cs typeface="Raleway"/>
              <a:sym typeface="Raleway"/>
            </a:endParaRPr>
          </a:p>
        </p:txBody>
      </p:sp>
      <p:sp>
        <p:nvSpPr>
          <p:cNvPr id="314" name="Google Shape;314;p33"/>
          <p:cNvSpPr txBox="1"/>
          <p:nvPr/>
        </p:nvSpPr>
        <p:spPr>
          <a:xfrm>
            <a:off x="7029144" y="2275110"/>
            <a:ext cx="1227300" cy="3258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b="1" lang="en" sz="986">
                <a:solidFill>
                  <a:srgbClr val="000000"/>
                </a:solidFill>
                <a:latin typeface="Raleway"/>
                <a:ea typeface="Raleway"/>
                <a:cs typeface="Raleway"/>
                <a:sym typeface="Raleway"/>
              </a:rPr>
              <a:t>Spurthi Jayadeva</a:t>
            </a:r>
            <a:endParaRPr b="1" sz="986">
              <a:solidFill>
                <a:srgbClr val="000000"/>
              </a:solidFill>
              <a:latin typeface="Raleway"/>
              <a:ea typeface="Raleway"/>
              <a:cs typeface="Raleway"/>
              <a:sym typeface="Raleway"/>
            </a:endParaRPr>
          </a:p>
        </p:txBody>
      </p:sp>
      <p:sp>
        <p:nvSpPr>
          <p:cNvPr id="315" name="Google Shape;315;p33"/>
          <p:cNvSpPr txBox="1"/>
          <p:nvPr/>
        </p:nvSpPr>
        <p:spPr>
          <a:xfrm>
            <a:off x="677325" y="2624708"/>
            <a:ext cx="826800" cy="3189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b="1" lang="en" sz="986">
                <a:solidFill>
                  <a:srgbClr val="000000"/>
                </a:solidFill>
                <a:latin typeface="Raleway"/>
                <a:ea typeface="Raleway"/>
                <a:cs typeface="Raleway"/>
                <a:sym typeface="Raleway"/>
              </a:rPr>
              <a:t>Hometown</a:t>
            </a:r>
            <a:endParaRPr b="1" sz="986">
              <a:solidFill>
                <a:srgbClr val="000000"/>
              </a:solidFill>
              <a:latin typeface="Raleway"/>
              <a:ea typeface="Raleway"/>
              <a:cs typeface="Raleway"/>
              <a:sym typeface="Raleway"/>
            </a:endParaRPr>
          </a:p>
        </p:txBody>
      </p:sp>
      <p:cxnSp>
        <p:nvCxnSpPr>
          <p:cNvPr id="316" name="Google Shape;316;p33"/>
          <p:cNvCxnSpPr/>
          <p:nvPr/>
        </p:nvCxnSpPr>
        <p:spPr>
          <a:xfrm>
            <a:off x="677325" y="2974826"/>
            <a:ext cx="7692600" cy="0"/>
          </a:xfrm>
          <a:prstGeom prst="straightConnector1">
            <a:avLst/>
          </a:prstGeom>
          <a:noFill/>
          <a:ln cap="flat" cmpd="sng" w="8625">
            <a:solidFill>
              <a:srgbClr val="44546A"/>
            </a:solidFill>
            <a:prstDash val="solid"/>
            <a:round/>
            <a:headEnd len="med" w="med" type="none"/>
            <a:tailEnd len="med" w="med" type="none"/>
          </a:ln>
        </p:spPr>
      </p:cxnSp>
      <p:sp>
        <p:nvSpPr>
          <p:cNvPr id="317" name="Google Shape;317;p33"/>
          <p:cNvSpPr txBox="1"/>
          <p:nvPr/>
        </p:nvSpPr>
        <p:spPr>
          <a:xfrm>
            <a:off x="677325" y="3006041"/>
            <a:ext cx="1117500" cy="3189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b="1" lang="en" sz="986">
                <a:solidFill>
                  <a:srgbClr val="000000"/>
                </a:solidFill>
                <a:latin typeface="Raleway"/>
                <a:ea typeface="Raleway"/>
                <a:cs typeface="Raleway"/>
                <a:sym typeface="Raleway"/>
              </a:rPr>
              <a:t>Career Interests</a:t>
            </a:r>
            <a:endParaRPr b="1" sz="986">
              <a:solidFill>
                <a:srgbClr val="000000"/>
              </a:solidFill>
              <a:latin typeface="Raleway"/>
              <a:ea typeface="Raleway"/>
              <a:cs typeface="Raleway"/>
              <a:sym typeface="Raleway"/>
            </a:endParaRPr>
          </a:p>
        </p:txBody>
      </p:sp>
      <p:cxnSp>
        <p:nvCxnSpPr>
          <p:cNvPr id="318" name="Google Shape;318;p33"/>
          <p:cNvCxnSpPr/>
          <p:nvPr/>
        </p:nvCxnSpPr>
        <p:spPr>
          <a:xfrm>
            <a:off x="677325" y="3560801"/>
            <a:ext cx="7692600" cy="0"/>
          </a:xfrm>
          <a:prstGeom prst="straightConnector1">
            <a:avLst/>
          </a:prstGeom>
          <a:noFill/>
          <a:ln cap="flat" cmpd="sng" w="8625">
            <a:solidFill>
              <a:srgbClr val="44546A"/>
            </a:solidFill>
            <a:prstDash val="solid"/>
            <a:round/>
            <a:headEnd len="med" w="med" type="none"/>
            <a:tailEnd len="med" w="med" type="none"/>
          </a:ln>
        </p:spPr>
      </p:cxnSp>
      <p:sp>
        <p:nvSpPr>
          <p:cNvPr id="319" name="Google Shape;319;p33"/>
          <p:cNvSpPr txBox="1"/>
          <p:nvPr/>
        </p:nvSpPr>
        <p:spPr>
          <a:xfrm>
            <a:off x="677325" y="3660284"/>
            <a:ext cx="1117500" cy="3189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b="1" lang="en" sz="986">
                <a:solidFill>
                  <a:srgbClr val="000000"/>
                </a:solidFill>
                <a:latin typeface="Raleway"/>
                <a:ea typeface="Raleway"/>
                <a:cs typeface="Raleway"/>
                <a:sym typeface="Raleway"/>
              </a:rPr>
              <a:t>Before Ross</a:t>
            </a:r>
            <a:endParaRPr b="1" sz="986">
              <a:solidFill>
                <a:srgbClr val="000000"/>
              </a:solidFill>
              <a:latin typeface="Raleway"/>
              <a:ea typeface="Raleway"/>
              <a:cs typeface="Raleway"/>
              <a:sym typeface="Raleway"/>
            </a:endParaRPr>
          </a:p>
        </p:txBody>
      </p:sp>
      <p:cxnSp>
        <p:nvCxnSpPr>
          <p:cNvPr id="320" name="Google Shape;320;p33"/>
          <p:cNvCxnSpPr/>
          <p:nvPr/>
        </p:nvCxnSpPr>
        <p:spPr>
          <a:xfrm>
            <a:off x="677325" y="4078899"/>
            <a:ext cx="7692600" cy="0"/>
          </a:xfrm>
          <a:prstGeom prst="straightConnector1">
            <a:avLst/>
          </a:prstGeom>
          <a:noFill/>
          <a:ln cap="flat" cmpd="sng" w="8625">
            <a:solidFill>
              <a:srgbClr val="44546A"/>
            </a:solidFill>
            <a:prstDash val="solid"/>
            <a:round/>
            <a:headEnd len="med" w="med" type="none"/>
            <a:tailEnd len="med" w="med" type="none"/>
          </a:ln>
        </p:spPr>
      </p:cxnSp>
      <p:sp>
        <p:nvSpPr>
          <p:cNvPr id="321" name="Google Shape;321;p33"/>
          <p:cNvSpPr txBox="1"/>
          <p:nvPr/>
        </p:nvSpPr>
        <p:spPr>
          <a:xfrm>
            <a:off x="3213943" y="2639439"/>
            <a:ext cx="1117500" cy="308100"/>
          </a:xfrm>
          <a:prstGeom prst="rect">
            <a:avLst/>
          </a:prstGeom>
          <a:noFill/>
          <a:ln>
            <a:noFill/>
          </a:ln>
        </p:spPr>
        <p:txBody>
          <a:bodyPr anchorCtr="0" anchor="t" bIns="82550" lIns="82550" spcFirstLastPara="1" rIns="82550" wrap="square" tIns="82550">
            <a:spAutoFit/>
          </a:bodyPr>
          <a:lstStyle/>
          <a:p>
            <a:pPr indent="0" lvl="0" marL="0" rtl="0" algn="l">
              <a:spcBef>
                <a:spcPts val="0"/>
              </a:spcBef>
              <a:spcAft>
                <a:spcPts val="0"/>
              </a:spcAft>
              <a:buNone/>
            </a:pPr>
            <a:r>
              <a:rPr lang="en" sz="919">
                <a:solidFill>
                  <a:srgbClr val="000000"/>
                </a:solidFill>
                <a:latin typeface="Raleway"/>
                <a:ea typeface="Raleway"/>
                <a:cs typeface="Raleway"/>
                <a:sym typeface="Raleway"/>
              </a:rPr>
              <a:t>New Delhi, India</a:t>
            </a:r>
            <a:endParaRPr sz="919">
              <a:solidFill>
                <a:srgbClr val="000000"/>
              </a:solidFill>
              <a:latin typeface="Raleway"/>
              <a:ea typeface="Raleway"/>
              <a:cs typeface="Raleway"/>
              <a:sym typeface="Raleway"/>
            </a:endParaRPr>
          </a:p>
        </p:txBody>
      </p:sp>
      <p:sp>
        <p:nvSpPr>
          <p:cNvPr id="322" name="Google Shape;322;p33"/>
          <p:cNvSpPr txBox="1"/>
          <p:nvPr/>
        </p:nvSpPr>
        <p:spPr>
          <a:xfrm>
            <a:off x="3056946" y="2935463"/>
            <a:ext cx="1357800" cy="591000"/>
          </a:xfrm>
          <a:prstGeom prst="rect">
            <a:avLst/>
          </a:prstGeom>
          <a:noFill/>
          <a:ln>
            <a:noFill/>
          </a:ln>
        </p:spPr>
        <p:txBody>
          <a:bodyPr anchorCtr="0" anchor="t" bIns="82550" lIns="82550" spcFirstLastPara="1" rIns="82550" wrap="square" tIns="82550">
            <a:sp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Working at the intersection of data and people</a:t>
            </a:r>
            <a:endParaRPr sz="919">
              <a:solidFill>
                <a:srgbClr val="000000"/>
              </a:solidFill>
              <a:latin typeface="Raleway"/>
              <a:ea typeface="Raleway"/>
              <a:cs typeface="Raleway"/>
              <a:sym typeface="Raleway"/>
            </a:endParaRPr>
          </a:p>
        </p:txBody>
      </p:sp>
      <p:sp>
        <p:nvSpPr>
          <p:cNvPr id="323" name="Google Shape;323;p33"/>
          <p:cNvSpPr txBox="1"/>
          <p:nvPr/>
        </p:nvSpPr>
        <p:spPr>
          <a:xfrm>
            <a:off x="3122237" y="3583614"/>
            <a:ext cx="1227300" cy="449700"/>
          </a:xfrm>
          <a:prstGeom prst="rect">
            <a:avLst/>
          </a:prstGeom>
          <a:noFill/>
          <a:ln>
            <a:noFill/>
          </a:ln>
        </p:spPr>
        <p:txBody>
          <a:bodyPr anchorCtr="0" anchor="t" bIns="82550" lIns="82550" spcFirstLastPara="1" rIns="82550" wrap="square" tIns="82550">
            <a:sp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BBA in Houston, Texas</a:t>
            </a:r>
            <a:endParaRPr sz="919">
              <a:solidFill>
                <a:srgbClr val="000000"/>
              </a:solidFill>
              <a:latin typeface="Raleway"/>
              <a:ea typeface="Raleway"/>
              <a:cs typeface="Raleway"/>
              <a:sym typeface="Raleway"/>
            </a:endParaRPr>
          </a:p>
        </p:txBody>
      </p:sp>
      <p:pic>
        <p:nvPicPr>
          <p:cNvPr id="324" name="Google Shape;324;p33"/>
          <p:cNvPicPr preferRelativeResize="0"/>
          <p:nvPr/>
        </p:nvPicPr>
        <p:blipFill>
          <a:blip r:embed="rId6">
            <a:alphaModFix/>
          </a:blip>
          <a:stretch>
            <a:fillRect/>
          </a:stretch>
        </p:blipFill>
        <p:spPr>
          <a:xfrm>
            <a:off x="4543751" y="1168350"/>
            <a:ext cx="1043852" cy="1100210"/>
          </a:xfrm>
          <a:prstGeom prst="rect">
            <a:avLst/>
          </a:prstGeom>
          <a:noFill/>
          <a:ln>
            <a:noFill/>
          </a:ln>
        </p:spPr>
      </p:pic>
      <p:sp>
        <p:nvSpPr>
          <p:cNvPr id="325" name="Google Shape;325;p33"/>
          <p:cNvSpPr txBox="1"/>
          <p:nvPr/>
        </p:nvSpPr>
        <p:spPr>
          <a:xfrm>
            <a:off x="4571182" y="2634089"/>
            <a:ext cx="3895500" cy="308100"/>
          </a:xfrm>
          <a:prstGeom prst="rect">
            <a:avLst/>
          </a:prstGeom>
          <a:noFill/>
          <a:ln>
            <a:noFill/>
          </a:ln>
        </p:spPr>
        <p:txBody>
          <a:bodyPr anchorCtr="0" anchor="t" bIns="82550" lIns="82550" spcFirstLastPara="1" rIns="82550" wrap="square" tIns="82550">
            <a:spAutoFit/>
          </a:bodyPr>
          <a:lstStyle/>
          <a:p>
            <a:pPr indent="0" lvl="0" marL="0" rtl="0" algn="l">
              <a:spcBef>
                <a:spcPts val="0"/>
              </a:spcBef>
              <a:spcAft>
                <a:spcPts val="0"/>
              </a:spcAft>
              <a:buNone/>
            </a:pPr>
            <a:r>
              <a:rPr lang="en" sz="919">
                <a:solidFill>
                  <a:srgbClr val="000000"/>
                </a:solidFill>
                <a:latin typeface="Raleway"/>
                <a:ea typeface="Raleway"/>
                <a:cs typeface="Raleway"/>
                <a:sym typeface="Raleway"/>
              </a:rPr>
              <a:t> Tirupati, India                     Shenzhen, CN</a:t>
            </a:r>
            <a:endParaRPr sz="919">
              <a:solidFill>
                <a:srgbClr val="000000"/>
              </a:solidFill>
              <a:latin typeface="Raleway"/>
              <a:ea typeface="Raleway"/>
              <a:cs typeface="Raleway"/>
              <a:sym typeface="Raleway"/>
            </a:endParaRPr>
          </a:p>
        </p:txBody>
      </p:sp>
      <p:sp>
        <p:nvSpPr>
          <p:cNvPr id="326" name="Google Shape;326;p33"/>
          <p:cNvSpPr txBox="1"/>
          <p:nvPr/>
        </p:nvSpPr>
        <p:spPr>
          <a:xfrm>
            <a:off x="4393481" y="2960174"/>
            <a:ext cx="1357800" cy="716400"/>
          </a:xfrm>
          <a:prstGeom prst="rect">
            <a:avLst/>
          </a:prstGeom>
          <a:noFill/>
          <a:ln>
            <a:noFill/>
          </a:ln>
        </p:spPr>
        <p:txBody>
          <a:bodyPr anchorCtr="0" anchor="t" bIns="82550" lIns="82550" spcFirstLastPara="1" rIns="82550" wrap="square" tIns="82550">
            <a:noAutofit/>
          </a:bodyPr>
          <a:lstStyle/>
          <a:p>
            <a:pPr indent="0" lvl="0" marL="0" rtl="0" algn="ctr">
              <a:lnSpc>
                <a:spcPct val="90000"/>
              </a:lnSpc>
              <a:spcBef>
                <a:spcPts val="0"/>
              </a:spcBef>
              <a:spcAft>
                <a:spcPts val="0"/>
              </a:spcAft>
              <a:buSzPts val="745"/>
              <a:buNone/>
            </a:pPr>
            <a:r>
              <a:rPr lang="en" sz="919">
                <a:solidFill>
                  <a:srgbClr val="000000"/>
                </a:solidFill>
                <a:latin typeface="Raleway"/>
                <a:ea typeface="Raleway"/>
                <a:cs typeface="Raleway"/>
                <a:sym typeface="Raleway"/>
              </a:rPr>
              <a:t>Data-driven strategy and analytics for business impact</a:t>
            </a:r>
            <a:endParaRPr sz="919">
              <a:solidFill>
                <a:srgbClr val="000000"/>
              </a:solidFill>
              <a:latin typeface="Raleway"/>
              <a:ea typeface="Raleway"/>
              <a:cs typeface="Raleway"/>
              <a:sym typeface="Raleway"/>
            </a:endParaRPr>
          </a:p>
        </p:txBody>
      </p:sp>
      <p:sp>
        <p:nvSpPr>
          <p:cNvPr id="327" name="Google Shape;327;p33"/>
          <p:cNvSpPr txBox="1"/>
          <p:nvPr/>
        </p:nvSpPr>
        <p:spPr>
          <a:xfrm>
            <a:off x="7338263" y="2634089"/>
            <a:ext cx="771600" cy="2904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lang="en" sz="919">
                <a:solidFill>
                  <a:srgbClr val="000000"/>
                </a:solidFill>
                <a:latin typeface="Raleway"/>
                <a:ea typeface="Raleway"/>
                <a:cs typeface="Raleway"/>
                <a:sym typeface="Raleway"/>
              </a:rPr>
              <a:t>Troy, MI</a:t>
            </a:r>
            <a:endParaRPr sz="919">
              <a:solidFill>
                <a:srgbClr val="000000"/>
              </a:solidFill>
              <a:latin typeface="Raleway"/>
              <a:ea typeface="Raleway"/>
              <a:cs typeface="Raleway"/>
              <a:sym typeface="Raleway"/>
            </a:endParaRPr>
          </a:p>
        </p:txBody>
      </p:sp>
      <p:sp>
        <p:nvSpPr>
          <p:cNvPr id="328" name="Google Shape;328;p33"/>
          <p:cNvSpPr txBox="1"/>
          <p:nvPr/>
        </p:nvSpPr>
        <p:spPr>
          <a:xfrm>
            <a:off x="4363387" y="3493669"/>
            <a:ext cx="1447800" cy="7164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SzPts val="542"/>
              <a:buNone/>
            </a:pPr>
            <a:r>
              <a:rPr lang="en" sz="919">
                <a:solidFill>
                  <a:srgbClr val="000000"/>
                </a:solidFill>
                <a:latin typeface="Raleway"/>
                <a:ea typeface="Raleway"/>
                <a:cs typeface="Raleway"/>
                <a:sym typeface="Raleway"/>
              </a:rPr>
              <a:t>Sales &amp; Marketing Analyst at Kaveri Seed Company Limited</a:t>
            </a:r>
            <a:endParaRPr sz="919">
              <a:solidFill>
                <a:srgbClr val="000000"/>
              </a:solidFill>
              <a:latin typeface="Raleway"/>
              <a:ea typeface="Raleway"/>
              <a:cs typeface="Raleway"/>
              <a:sym typeface="Raleway"/>
            </a:endParaRPr>
          </a:p>
        </p:txBody>
      </p:sp>
      <p:sp>
        <p:nvSpPr>
          <p:cNvPr id="329" name="Google Shape;329;p33"/>
          <p:cNvSpPr txBox="1"/>
          <p:nvPr/>
        </p:nvSpPr>
        <p:spPr>
          <a:xfrm>
            <a:off x="677325" y="4146787"/>
            <a:ext cx="1117500" cy="325800"/>
          </a:xfrm>
          <a:prstGeom prst="rect">
            <a:avLst/>
          </a:prstGeom>
          <a:noFill/>
          <a:ln>
            <a:noFill/>
          </a:ln>
        </p:spPr>
        <p:txBody>
          <a:bodyPr anchorCtr="0" anchor="t" bIns="82550" lIns="82550" spcFirstLastPara="1" rIns="82550" wrap="square" tIns="82550">
            <a:noAutofit/>
          </a:bodyPr>
          <a:lstStyle/>
          <a:p>
            <a:pPr indent="0" lvl="0" marL="0" rtl="0" algn="l">
              <a:spcBef>
                <a:spcPts val="0"/>
              </a:spcBef>
              <a:spcAft>
                <a:spcPts val="0"/>
              </a:spcAft>
              <a:buNone/>
            </a:pPr>
            <a:r>
              <a:rPr b="1" lang="en" sz="986">
                <a:solidFill>
                  <a:srgbClr val="000000"/>
                </a:solidFill>
                <a:latin typeface="Raleway"/>
                <a:ea typeface="Raleway"/>
                <a:cs typeface="Raleway"/>
                <a:sym typeface="Raleway"/>
              </a:rPr>
              <a:t>Fun Fact</a:t>
            </a:r>
            <a:endParaRPr b="1" sz="986">
              <a:solidFill>
                <a:srgbClr val="000000"/>
              </a:solidFill>
              <a:latin typeface="Raleway"/>
              <a:ea typeface="Raleway"/>
              <a:cs typeface="Raleway"/>
              <a:sym typeface="Raleway"/>
            </a:endParaRPr>
          </a:p>
        </p:txBody>
      </p:sp>
      <p:sp>
        <p:nvSpPr>
          <p:cNvPr id="330" name="Google Shape;330;p33"/>
          <p:cNvSpPr txBox="1"/>
          <p:nvPr/>
        </p:nvSpPr>
        <p:spPr>
          <a:xfrm>
            <a:off x="4473651" y="4064202"/>
            <a:ext cx="1227300" cy="543600"/>
          </a:xfrm>
          <a:prstGeom prst="rect">
            <a:avLst/>
          </a:prstGeom>
          <a:noFill/>
          <a:ln>
            <a:noFill/>
          </a:ln>
        </p:spPr>
        <p:txBody>
          <a:bodyPr anchorCtr="0" anchor="t" bIns="82550" lIns="82550" spcFirstLastPara="1" rIns="82550" wrap="square" tIns="82550">
            <a:noAutofit/>
          </a:bodyPr>
          <a:lstStyle/>
          <a:p>
            <a:pPr indent="0" lvl="0" marL="0" rtl="0" algn="ctr">
              <a:lnSpc>
                <a:spcPct val="100000"/>
              </a:lnSpc>
              <a:spcBef>
                <a:spcPts val="1084"/>
              </a:spcBef>
              <a:spcAft>
                <a:spcPts val="0"/>
              </a:spcAft>
              <a:buClr>
                <a:srgbClr val="000000"/>
              </a:buClr>
              <a:buSzPts val="1016"/>
              <a:buFont typeface="Arial"/>
              <a:buNone/>
            </a:pPr>
            <a:r>
              <a:rPr lang="en" sz="919">
                <a:solidFill>
                  <a:srgbClr val="000000"/>
                </a:solidFill>
                <a:latin typeface="Raleway"/>
                <a:ea typeface="Raleway"/>
                <a:cs typeface="Raleway"/>
                <a:sym typeface="Raleway"/>
              </a:rPr>
              <a:t>I actually enjoy cleaning messy data, it’s oddly satisfying </a:t>
            </a:r>
            <a:endParaRPr sz="919">
              <a:solidFill>
                <a:srgbClr val="000000"/>
              </a:solidFill>
              <a:latin typeface="Raleway"/>
              <a:ea typeface="Raleway"/>
              <a:cs typeface="Raleway"/>
              <a:sym typeface="Raleway"/>
            </a:endParaRPr>
          </a:p>
          <a:p>
            <a:pPr indent="0" lvl="0" marL="0" rtl="0" algn="l">
              <a:spcBef>
                <a:spcPts val="1084"/>
              </a:spcBef>
              <a:spcAft>
                <a:spcPts val="0"/>
              </a:spcAft>
              <a:buNone/>
            </a:pPr>
            <a:r>
              <a:t/>
            </a:r>
            <a:endParaRPr sz="919">
              <a:solidFill>
                <a:srgbClr val="000000"/>
              </a:solidFill>
              <a:latin typeface="Raleway"/>
              <a:ea typeface="Raleway"/>
              <a:cs typeface="Raleway"/>
              <a:sym typeface="Raleway"/>
            </a:endParaRPr>
          </a:p>
        </p:txBody>
      </p:sp>
      <p:pic>
        <p:nvPicPr>
          <p:cNvPr id="331" name="Google Shape;331;p33" title="Screenshot 2026-01-22 at 2.09.56 PM.png"/>
          <p:cNvPicPr preferRelativeResize="0"/>
          <p:nvPr/>
        </p:nvPicPr>
        <p:blipFill>
          <a:blip r:embed="rId7">
            <a:alphaModFix/>
          </a:blip>
          <a:stretch>
            <a:fillRect/>
          </a:stretch>
        </p:blipFill>
        <p:spPr>
          <a:xfrm>
            <a:off x="5798718" y="1168350"/>
            <a:ext cx="1050085" cy="1106778"/>
          </a:xfrm>
          <a:prstGeom prst="rect">
            <a:avLst/>
          </a:prstGeom>
          <a:noFill/>
          <a:ln>
            <a:noFill/>
          </a:ln>
        </p:spPr>
      </p:pic>
      <p:sp>
        <p:nvSpPr>
          <p:cNvPr id="332" name="Google Shape;332;p33"/>
          <p:cNvSpPr txBox="1"/>
          <p:nvPr/>
        </p:nvSpPr>
        <p:spPr>
          <a:xfrm>
            <a:off x="6928429" y="2937224"/>
            <a:ext cx="1426500" cy="7164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Using data, tech, and human behavior for decision-making</a:t>
            </a:r>
            <a:endParaRPr sz="919">
              <a:solidFill>
                <a:srgbClr val="000000"/>
              </a:solidFill>
              <a:latin typeface="Raleway"/>
              <a:ea typeface="Raleway"/>
              <a:cs typeface="Raleway"/>
              <a:sym typeface="Raleway"/>
            </a:endParaRPr>
          </a:p>
        </p:txBody>
      </p:sp>
      <p:sp>
        <p:nvSpPr>
          <p:cNvPr id="333" name="Google Shape;333;p33"/>
          <p:cNvSpPr txBox="1"/>
          <p:nvPr/>
        </p:nvSpPr>
        <p:spPr>
          <a:xfrm>
            <a:off x="6997243" y="3512633"/>
            <a:ext cx="1357800" cy="7647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B.S. Cognitive Science (Minors: CS &amp; QMSS) at UMich</a:t>
            </a:r>
            <a:endParaRPr sz="919">
              <a:solidFill>
                <a:srgbClr val="000000"/>
              </a:solidFill>
              <a:latin typeface="Raleway"/>
              <a:ea typeface="Raleway"/>
              <a:cs typeface="Raleway"/>
              <a:sym typeface="Raleway"/>
            </a:endParaRPr>
          </a:p>
        </p:txBody>
      </p:sp>
      <p:sp>
        <p:nvSpPr>
          <p:cNvPr id="334" name="Google Shape;334;p33"/>
          <p:cNvSpPr txBox="1"/>
          <p:nvPr/>
        </p:nvSpPr>
        <p:spPr>
          <a:xfrm>
            <a:off x="6928429" y="4078899"/>
            <a:ext cx="1426500" cy="7164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I climbed part of an active volcano!</a:t>
            </a:r>
            <a:endParaRPr sz="919">
              <a:solidFill>
                <a:srgbClr val="000000"/>
              </a:solidFill>
              <a:latin typeface="Raleway"/>
              <a:ea typeface="Raleway"/>
              <a:cs typeface="Raleway"/>
              <a:sym typeface="Raleway"/>
            </a:endParaRPr>
          </a:p>
        </p:txBody>
      </p:sp>
      <p:sp>
        <p:nvSpPr>
          <p:cNvPr id="335" name="Google Shape;335;p33"/>
          <p:cNvSpPr txBox="1"/>
          <p:nvPr/>
        </p:nvSpPr>
        <p:spPr>
          <a:xfrm>
            <a:off x="5721912" y="2931041"/>
            <a:ext cx="1357800" cy="6672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Intersection of AI, Fintech, and strategic business growth</a:t>
            </a:r>
            <a:endParaRPr sz="919">
              <a:solidFill>
                <a:srgbClr val="000000"/>
              </a:solidFill>
              <a:latin typeface="Raleway"/>
              <a:ea typeface="Raleway"/>
              <a:cs typeface="Raleway"/>
              <a:sym typeface="Raleway"/>
            </a:endParaRPr>
          </a:p>
        </p:txBody>
      </p:sp>
      <p:sp>
        <p:nvSpPr>
          <p:cNvPr id="336" name="Google Shape;336;p33"/>
          <p:cNvSpPr txBox="1"/>
          <p:nvPr/>
        </p:nvSpPr>
        <p:spPr>
          <a:xfrm>
            <a:off x="5737896" y="3512633"/>
            <a:ext cx="1227300" cy="5436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Clr>
                <a:srgbClr val="000000"/>
              </a:buClr>
              <a:buSzPts val="1016"/>
              <a:buFont typeface="Arial"/>
              <a:buNone/>
            </a:pPr>
            <a:r>
              <a:rPr lang="en" sz="919">
                <a:solidFill>
                  <a:srgbClr val="000000"/>
                </a:solidFill>
                <a:latin typeface="Raleway"/>
                <a:ea typeface="Raleway"/>
                <a:cs typeface="Raleway"/>
                <a:sym typeface="Raleway"/>
              </a:rPr>
              <a:t>B.S. Economics (Minors: Math &amp; Stats), UMich</a:t>
            </a:r>
            <a:endParaRPr sz="986">
              <a:solidFill>
                <a:srgbClr val="000000"/>
              </a:solidFill>
              <a:latin typeface="Raleway"/>
              <a:ea typeface="Raleway"/>
              <a:cs typeface="Raleway"/>
              <a:sym typeface="Raleway"/>
            </a:endParaRPr>
          </a:p>
        </p:txBody>
      </p:sp>
      <p:sp>
        <p:nvSpPr>
          <p:cNvPr id="337" name="Google Shape;337;p33"/>
          <p:cNvSpPr txBox="1"/>
          <p:nvPr/>
        </p:nvSpPr>
        <p:spPr>
          <a:xfrm>
            <a:off x="5845576" y="4101701"/>
            <a:ext cx="1117500" cy="6672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Big fan of horror movies</a:t>
            </a:r>
            <a:endParaRPr sz="919">
              <a:solidFill>
                <a:srgbClr val="000000"/>
              </a:solidFill>
              <a:latin typeface="Raleway"/>
              <a:ea typeface="Raleway"/>
              <a:cs typeface="Raleway"/>
              <a:sym typeface="Raleway"/>
            </a:endParaRPr>
          </a:p>
        </p:txBody>
      </p:sp>
      <p:sp>
        <p:nvSpPr>
          <p:cNvPr id="338" name="Google Shape;338;p33"/>
          <p:cNvSpPr txBox="1"/>
          <p:nvPr/>
        </p:nvSpPr>
        <p:spPr>
          <a:xfrm flipH="1">
            <a:off x="1890545" y="2643729"/>
            <a:ext cx="1117500" cy="308100"/>
          </a:xfrm>
          <a:prstGeom prst="rect">
            <a:avLst/>
          </a:prstGeom>
          <a:noFill/>
          <a:ln>
            <a:noFill/>
          </a:ln>
        </p:spPr>
        <p:txBody>
          <a:bodyPr anchorCtr="0" anchor="t" bIns="82550" lIns="82550" spcFirstLastPara="1" rIns="82550" wrap="square" tIns="82550">
            <a:spAutoFit/>
          </a:bodyPr>
          <a:lstStyle/>
          <a:p>
            <a:pPr indent="0" lvl="0" marL="0" rtl="0" algn="l">
              <a:spcBef>
                <a:spcPts val="0"/>
              </a:spcBef>
              <a:spcAft>
                <a:spcPts val="0"/>
              </a:spcAft>
              <a:buNone/>
            </a:pPr>
            <a:r>
              <a:rPr lang="en" sz="919">
                <a:solidFill>
                  <a:srgbClr val="000000"/>
                </a:solidFill>
                <a:latin typeface="Raleway"/>
                <a:ea typeface="Raleway"/>
                <a:cs typeface="Raleway"/>
                <a:sym typeface="Raleway"/>
              </a:rPr>
              <a:t>Mombasa, Kenya</a:t>
            </a:r>
            <a:endParaRPr sz="919">
              <a:solidFill>
                <a:srgbClr val="000000"/>
              </a:solidFill>
              <a:latin typeface="Raleway"/>
              <a:ea typeface="Raleway"/>
              <a:cs typeface="Raleway"/>
              <a:sym typeface="Raleway"/>
            </a:endParaRPr>
          </a:p>
        </p:txBody>
      </p:sp>
      <p:sp>
        <p:nvSpPr>
          <p:cNvPr id="339" name="Google Shape;339;p33"/>
          <p:cNvSpPr txBox="1"/>
          <p:nvPr/>
        </p:nvSpPr>
        <p:spPr>
          <a:xfrm>
            <a:off x="1770485" y="2935260"/>
            <a:ext cx="1357800" cy="591000"/>
          </a:xfrm>
          <a:prstGeom prst="rect">
            <a:avLst/>
          </a:prstGeom>
          <a:noFill/>
          <a:ln>
            <a:noFill/>
          </a:ln>
        </p:spPr>
        <p:txBody>
          <a:bodyPr anchorCtr="0" anchor="t" bIns="82550" lIns="82550" spcFirstLastPara="1" rIns="82550" wrap="square" tIns="82550">
            <a:sp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The ability to impact a several lives or organizations</a:t>
            </a:r>
            <a:endParaRPr sz="919">
              <a:solidFill>
                <a:srgbClr val="000000"/>
              </a:solidFill>
              <a:latin typeface="Raleway"/>
              <a:ea typeface="Raleway"/>
              <a:cs typeface="Raleway"/>
              <a:sym typeface="Raleway"/>
            </a:endParaRPr>
          </a:p>
        </p:txBody>
      </p:sp>
      <p:sp>
        <p:nvSpPr>
          <p:cNvPr id="340" name="Google Shape;340;p33"/>
          <p:cNvSpPr txBox="1"/>
          <p:nvPr/>
        </p:nvSpPr>
        <p:spPr>
          <a:xfrm>
            <a:off x="1682436" y="3507080"/>
            <a:ext cx="1533900" cy="591000"/>
          </a:xfrm>
          <a:prstGeom prst="rect">
            <a:avLst/>
          </a:prstGeom>
          <a:noFill/>
          <a:ln>
            <a:noFill/>
          </a:ln>
        </p:spPr>
        <p:txBody>
          <a:bodyPr anchorCtr="0" anchor="t" bIns="82550" lIns="82550" spcFirstLastPara="1" rIns="82550" wrap="square" tIns="82550">
            <a:sp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B.S. Statistics (Minors: Data Science &amp; QMSS), UMich</a:t>
            </a:r>
            <a:endParaRPr sz="919">
              <a:solidFill>
                <a:srgbClr val="000000"/>
              </a:solidFill>
              <a:latin typeface="Raleway"/>
              <a:ea typeface="Raleway"/>
              <a:cs typeface="Raleway"/>
              <a:sym typeface="Raleway"/>
            </a:endParaRPr>
          </a:p>
        </p:txBody>
      </p:sp>
      <p:sp>
        <p:nvSpPr>
          <p:cNvPr id="341" name="Google Shape;341;p33"/>
          <p:cNvSpPr txBox="1"/>
          <p:nvPr/>
        </p:nvSpPr>
        <p:spPr>
          <a:xfrm>
            <a:off x="1792429" y="4078899"/>
            <a:ext cx="1357800" cy="6672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19">
                <a:solidFill>
                  <a:srgbClr val="000000"/>
                </a:solidFill>
                <a:latin typeface="Raleway"/>
                <a:ea typeface="Raleway"/>
                <a:cs typeface="Raleway"/>
                <a:sym typeface="Raleway"/>
              </a:rPr>
              <a:t>I support Manchester United so I live a horrible life.</a:t>
            </a:r>
            <a:endParaRPr sz="919">
              <a:solidFill>
                <a:srgbClr val="000000"/>
              </a:solidFill>
              <a:latin typeface="Raleway"/>
              <a:ea typeface="Raleway"/>
              <a:cs typeface="Raleway"/>
              <a:sym typeface="Raleway"/>
            </a:endParaRPr>
          </a:p>
        </p:txBody>
      </p:sp>
      <p:sp>
        <p:nvSpPr>
          <p:cNvPr id="342" name="Google Shape;342;p33"/>
          <p:cNvSpPr txBox="1"/>
          <p:nvPr/>
        </p:nvSpPr>
        <p:spPr>
          <a:xfrm>
            <a:off x="3350050" y="4101700"/>
            <a:ext cx="771600" cy="502200"/>
          </a:xfrm>
          <a:prstGeom prst="rect">
            <a:avLst/>
          </a:prstGeom>
          <a:noFill/>
          <a:ln>
            <a:noFill/>
          </a:ln>
        </p:spPr>
        <p:txBody>
          <a:bodyPr anchorCtr="0" anchor="t" bIns="82550" lIns="82550" spcFirstLastPara="1" rIns="82550" wrap="square" tIns="82550">
            <a:noAutofit/>
          </a:bodyPr>
          <a:lstStyle/>
          <a:p>
            <a:pPr indent="0" lvl="0" marL="0" rtl="0" algn="ctr">
              <a:spcBef>
                <a:spcPts val="0"/>
              </a:spcBef>
              <a:spcAft>
                <a:spcPts val="0"/>
              </a:spcAft>
              <a:buNone/>
            </a:pPr>
            <a:r>
              <a:rPr lang="en" sz="986">
                <a:solidFill>
                  <a:srgbClr val="000000"/>
                </a:solidFill>
                <a:latin typeface="Raleway"/>
                <a:ea typeface="Raleway"/>
                <a:cs typeface="Raleway"/>
                <a:sym typeface="Raleway"/>
              </a:rPr>
              <a:t>I love spicy food</a:t>
            </a:r>
            <a:endParaRPr sz="986">
              <a:solidFill>
                <a:srgbClr val="000000"/>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48" name="Google Shape;348;p34"/>
          <p:cNvSpPr txBox="1"/>
          <p:nvPr>
            <p:ph idx="2" type="title"/>
          </p:nvPr>
        </p:nvSpPr>
        <p:spPr>
          <a:xfrm>
            <a:off x="720000" y="1615673"/>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49" name="Google Shape;349;p34"/>
          <p:cNvSpPr txBox="1"/>
          <p:nvPr>
            <p:ph idx="3" type="title"/>
          </p:nvPr>
        </p:nvSpPr>
        <p:spPr>
          <a:xfrm>
            <a:off x="4572000" y="1615673"/>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a:t>
            </a:r>
            <a:r>
              <a:rPr lang="en"/>
              <a:t>4</a:t>
            </a:r>
            <a:endParaRPr/>
          </a:p>
        </p:txBody>
      </p:sp>
      <p:sp>
        <p:nvSpPr>
          <p:cNvPr id="350" name="Google Shape;350;p34"/>
          <p:cNvSpPr txBox="1"/>
          <p:nvPr>
            <p:ph idx="4" type="title"/>
          </p:nvPr>
        </p:nvSpPr>
        <p:spPr>
          <a:xfrm>
            <a:off x="720000" y="2706036"/>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51" name="Google Shape;351;p34"/>
          <p:cNvSpPr txBox="1"/>
          <p:nvPr>
            <p:ph idx="5" type="title"/>
          </p:nvPr>
        </p:nvSpPr>
        <p:spPr>
          <a:xfrm>
            <a:off x="4572000" y="2706036"/>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a:t>
            </a:r>
            <a:r>
              <a:rPr lang="en"/>
              <a:t>5</a:t>
            </a:r>
            <a:endParaRPr/>
          </a:p>
        </p:txBody>
      </p:sp>
      <p:sp>
        <p:nvSpPr>
          <p:cNvPr id="352" name="Google Shape;352;p34"/>
          <p:cNvSpPr txBox="1"/>
          <p:nvPr>
            <p:ph idx="6" type="title"/>
          </p:nvPr>
        </p:nvSpPr>
        <p:spPr>
          <a:xfrm>
            <a:off x="720000" y="3796398"/>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53" name="Google Shape;353;p34"/>
          <p:cNvSpPr txBox="1"/>
          <p:nvPr>
            <p:ph idx="7" type="title"/>
          </p:nvPr>
        </p:nvSpPr>
        <p:spPr>
          <a:xfrm>
            <a:off x="4572000" y="3796398"/>
            <a:ext cx="734700" cy="73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354" name="Google Shape;354;p34"/>
          <p:cNvSpPr txBox="1"/>
          <p:nvPr>
            <p:ph idx="1" type="subTitle"/>
          </p:nvPr>
        </p:nvSpPr>
        <p:spPr>
          <a:xfrm>
            <a:off x="1607100" y="1762373"/>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355" name="Google Shape;355;p34"/>
          <p:cNvSpPr txBox="1"/>
          <p:nvPr>
            <p:ph idx="8" type="subTitle"/>
          </p:nvPr>
        </p:nvSpPr>
        <p:spPr>
          <a:xfrm>
            <a:off x="1607100" y="2852736"/>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a:t>
            </a:r>
            <a:endParaRPr/>
          </a:p>
        </p:txBody>
      </p:sp>
      <p:sp>
        <p:nvSpPr>
          <p:cNvPr id="356" name="Google Shape;356;p34"/>
          <p:cNvSpPr txBox="1"/>
          <p:nvPr>
            <p:ph idx="9" type="subTitle"/>
          </p:nvPr>
        </p:nvSpPr>
        <p:spPr>
          <a:xfrm>
            <a:off x="1607100" y="3943098"/>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357" name="Google Shape;357;p34"/>
          <p:cNvSpPr txBox="1"/>
          <p:nvPr>
            <p:ph idx="13" type="subTitle"/>
          </p:nvPr>
        </p:nvSpPr>
        <p:spPr>
          <a:xfrm>
            <a:off x="5459100" y="1762373"/>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358" name="Google Shape;358;p34"/>
          <p:cNvSpPr txBox="1"/>
          <p:nvPr>
            <p:ph idx="14" type="subTitle"/>
          </p:nvPr>
        </p:nvSpPr>
        <p:spPr>
          <a:xfrm>
            <a:off x="5459100" y="2852736"/>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Recommendations</a:t>
            </a:r>
            <a:endParaRPr/>
          </a:p>
        </p:txBody>
      </p:sp>
      <p:sp>
        <p:nvSpPr>
          <p:cNvPr id="359" name="Google Shape;359;p34"/>
          <p:cNvSpPr txBox="1"/>
          <p:nvPr>
            <p:ph idx="15" type="subTitle"/>
          </p:nvPr>
        </p:nvSpPr>
        <p:spPr>
          <a:xfrm>
            <a:off x="5459100" y="3943098"/>
            <a:ext cx="2532000" cy="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ph type="title"/>
          </p:nvPr>
        </p:nvSpPr>
        <p:spPr>
          <a:xfrm>
            <a:off x="4906325" y="2018175"/>
            <a:ext cx="3918900" cy="7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a:t>
            </a:r>
            <a:endParaRPr/>
          </a:p>
        </p:txBody>
      </p:sp>
      <p:sp>
        <p:nvSpPr>
          <p:cNvPr id="365" name="Google Shape;365;p35"/>
          <p:cNvSpPr txBox="1"/>
          <p:nvPr>
            <p:ph idx="2" type="title"/>
          </p:nvPr>
        </p:nvSpPr>
        <p:spPr>
          <a:xfrm>
            <a:off x="4963434" y="924863"/>
            <a:ext cx="9540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descr="KYC Service Provider" id="366" name="Google Shape;366;p35"/>
          <p:cNvPicPr preferRelativeResize="0"/>
          <p:nvPr>
            <p:ph idx="3" type="pic"/>
          </p:nvPr>
        </p:nvPicPr>
        <p:blipFill rotWithShape="1">
          <a:blip r:embed="rId3">
            <a:alphaModFix/>
          </a:blip>
          <a:srcRect b="0" l="25207" r="25212" t="0"/>
          <a:stretch/>
        </p:blipFill>
        <p:spPr>
          <a:xfrm>
            <a:off x="1322338" y="539500"/>
            <a:ext cx="2760602" cy="4064500"/>
          </a:xfrm>
          <a:prstGeom prst="rect">
            <a:avLst/>
          </a:prstGeom>
        </p:spPr>
      </p:pic>
      <p:sp>
        <p:nvSpPr>
          <p:cNvPr id="367" name="Google Shape;367;p35"/>
          <p:cNvSpPr/>
          <p:nvPr/>
        </p:nvSpPr>
        <p:spPr>
          <a:xfrm>
            <a:off x="4963433" y="4179925"/>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8" name="Google Shape;368;p35"/>
          <p:cNvSpPr txBox="1"/>
          <p:nvPr>
            <p:ph idx="4294967295" type="subTitle"/>
          </p:nvPr>
        </p:nvSpPr>
        <p:spPr>
          <a:xfrm>
            <a:off x="4906325" y="2794875"/>
            <a:ext cx="3513900" cy="10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Why onboarding friction is Baysten's most urgent growth barrier</a:t>
            </a:r>
            <a:endParaRPr b="1" sz="18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6"/>
          <p:cNvSpPr txBox="1"/>
          <p:nvPr>
            <p:ph type="title"/>
          </p:nvPr>
        </p:nvSpPr>
        <p:spPr>
          <a:xfrm>
            <a:off x="713225" y="928475"/>
            <a:ext cx="7259700" cy="750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Onboarding Friction Is Significantly Impacting Conversion</a:t>
            </a:r>
            <a:endParaRPr sz="2600"/>
          </a:p>
        </p:txBody>
      </p:sp>
      <p:grpSp>
        <p:nvGrpSpPr>
          <p:cNvPr id="374" name="Google Shape;374;p36"/>
          <p:cNvGrpSpPr/>
          <p:nvPr/>
        </p:nvGrpSpPr>
        <p:grpSpPr>
          <a:xfrm>
            <a:off x="4674928" y="1896134"/>
            <a:ext cx="3828745" cy="2451951"/>
            <a:chOff x="1695450" y="1533249"/>
            <a:chExt cx="2819400" cy="3250200"/>
          </a:xfrm>
        </p:grpSpPr>
        <p:sp>
          <p:nvSpPr>
            <p:cNvPr id="375" name="Google Shape;375;p36"/>
            <p:cNvSpPr/>
            <p:nvPr/>
          </p:nvSpPr>
          <p:spPr>
            <a:xfrm>
              <a:off x="1695450" y="1533249"/>
              <a:ext cx="2819400" cy="3250200"/>
            </a:xfrm>
            <a:prstGeom prst="roundRect">
              <a:avLst>
                <a:gd fmla="val 6669" name="adj"/>
              </a:avLst>
            </a:prstGeom>
            <a:solidFill>
              <a:schemeClr val="accen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a:ea typeface="Raleway"/>
                <a:cs typeface="Raleway"/>
                <a:sym typeface="Raleway"/>
              </a:endParaRPr>
            </a:p>
          </p:txBody>
        </p:sp>
        <p:sp>
          <p:nvSpPr>
            <p:cNvPr id="376" name="Google Shape;376;p36"/>
            <p:cNvSpPr txBox="1"/>
            <p:nvPr/>
          </p:nvSpPr>
          <p:spPr>
            <a:xfrm>
              <a:off x="1776597" y="1815746"/>
              <a:ext cx="2657100" cy="2835900"/>
            </a:xfrm>
            <a:prstGeom prst="rect">
              <a:avLst/>
            </a:prstGeom>
            <a:solidFill>
              <a:schemeClr val="accent1"/>
            </a:solidFill>
            <a:ln>
              <a:noFill/>
            </a:ln>
          </p:spPr>
          <p:txBody>
            <a:bodyPr anchorCtr="0" anchor="t" bIns="91425" lIns="91425" spcFirstLastPara="1" rIns="91425" wrap="square" tIns="91425">
              <a:noAutofit/>
            </a:bodyPr>
            <a:lstStyle/>
            <a:p>
              <a:pPr indent="-311150" lvl="0" marL="457200" rtl="0" algn="l">
                <a:lnSpc>
                  <a:spcPct val="90000"/>
                </a:lnSpc>
                <a:spcBef>
                  <a:spcPts val="0"/>
                </a:spcBef>
                <a:spcAft>
                  <a:spcPts val="0"/>
                </a:spcAft>
                <a:buClr>
                  <a:srgbClr val="FFFFFF"/>
                </a:buClr>
                <a:buSzPts val="1300"/>
                <a:buFont typeface="Raleway"/>
                <a:buChar char="●"/>
              </a:pPr>
              <a:r>
                <a:rPr lang="en" sz="1300">
                  <a:solidFill>
                    <a:srgbClr val="FFFFFF"/>
                  </a:solidFill>
                  <a:latin typeface="Raleway"/>
                  <a:ea typeface="Raleway"/>
                  <a:cs typeface="Raleway"/>
                  <a:sym typeface="Raleway"/>
                </a:rPr>
                <a:t>Onboarding is fully manual → no resume upload, no autofill</a:t>
              </a:r>
              <a:endParaRPr sz="1300">
                <a:solidFill>
                  <a:srgbClr val="FFFFFF"/>
                </a:solidFill>
                <a:latin typeface="Raleway"/>
                <a:ea typeface="Raleway"/>
                <a:cs typeface="Raleway"/>
                <a:sym typeface="Raleway"/>
              </a:endParaRPr>
            </a:p>
            <a:p>
              <a:pPr indent="-311150" lvl="0" marL="457200" rtl="0" algn="l">
                <a:lnSpc>
                  <a:spcPct val="90000"/>
                </a:lnSpc>
                <a:spcBef>
                  <a:spcPts val="1000"/>
                </a:spcBef>
                <a:spcAft>
                  <a:spcPts val="0"/>
                </a:spcAft>
                <a:buClr>
                  <a:srgbClr val="FFFFFF"/>
                </a:buClr>
                <a:buSzPts val="1300"/>
                <a:buFont typeface="Raleway"/>
                <a:buChar char="●"/>
              </a:pPr>
              <a:r>
                <a:rPr lang="en" sz="1300">
                  <a:solidFill>
                    <a:srgbClr val="FFFFFF"/>
                  </a:solidFill>
                  <a:latin typeface="Raleway"/>
                  <a:ea typeface="Raleway"/>
                  <a:cs typeface="Raleway"/>
                  <a:sym typeface="Raleway"/>
                </a:rPr>
                <a:t>Users must invest </a:t>
              </a:r>
              <a:r>
                <a:rPr b="1" lang="en" sz="1300">
                  <a:solidFill>
                    <a:srgbClr val="FFFFFF"/>
                  </a:solidFill>
                  <a:latin typeface="Raleway"/>
                  <a:ea typeface="Raleway"/>
                  <a:cs typeface="Raleway"/>
                  <a:sym typeface="Raleway"/>
                </a:rPr>
                <a:t>32 minutes</a:t>
              </a:r>
              <a:r>
                <a:rPr lang="en" sz="1300">
                  <a:solidFill>
                    <a:srgbClr val="FFFFFF"/>
                  </a:solidFill>
                  <a:latin typeface="Raleway"/>
                  <a:ea typeface="Raleway"/>
                  <a:cs typeface="Raleway"/>
                  <a:sym typeface="Raleway"/>
                </a:rPr>
                <a:t> before experiencing any platform value</a:t>
              </a:r>
              <a:endParaRPr sz="1300">
                <a:solidFill>
                  <a:srgbClr val="FFFFFF"/>
                </a:solidFill>
                <a:latin typeface="Raleway"/>
                <a:ea typeface="Raleway"/>
                <a:cs typeface="Raleway"/>
                <a:sym typeface="Raleway"/>
              </a:endParaRPr>
            </a:p>
            <a:p>
              <a:pPr indent="-311150" lvl="0" marL="457200" rtl="0" algn="l">
                <a:lnSpc>
                  <a:spcPct val="90000"/>
                </a:lnSpc>
                <a:spcBef>
                  <a:spcPts val="1000"/>
                </a:spcBef>
                <a:spcAft>
                  <a:spcPts val="0"/>
                </a:spcAft>
                <a:buClr>
                  <a:srgbClr val="FFFFFF"/>
                </a:buClr>
                <a:buSzPts val="1300"/>
                <a:buFont typeface="Raleway"/>
                <a:buChar char="●"/>
              </a:pPr>
              <a:r>
                <a:rPr lang="en" sz="1300">
                  <a:solidFill>
                    <a:srgbClr val="FFFFFF"/>
                  </a:solidFill>
                  <a:latin typeface="Raleway"/>
                  <a:ea typeface="Raleway"/>
                  <a:cs typeface="Raleway"/>
                  <a:sym typeface="Raleway"/>
                </a:rPr>
                <a:t>Every drop-off = a lost match, lost revenue, and weaker search quality</a:t>
              </a:r>
              <a:endParaRPr sz="1300">
                <a:solidFill>
                  <a:srgbClr val="FFFFFF"/>
                </a:solidFill>
                <a:latin typeface="Raleway"/>
                <a:ea typeface="Raleway"/>
                <a:cs typeface="Raleway"/>
                <a:sym typeface="Raleway"/>
              </a:endParaRPr>
            </a:p>
            <a:p>
              <a:pPr indent="-311150" lvl="0" marL="457200" rtl="0" algn="l">
                <a:lnSpc>
                  <a:spcPct val="90000"/>
                </a:lnSpc>
                <a:spcBef>
                  <a:spcPts val="1000"/>
                </a:spcBef>
                <a:spcAft>
                  <a:spcPts val="1000"/>
                </a:spcAft>
                <a:buClr>
                  <a:srgbClr val="FFFFFF"/>
                </a:buClr>
                <a:buSzPts val="1300"/>
                <a:buFont typeface="Raleway"/>
                <a:buChar char="●"/>
              </a:pPr>
              <a:r>
                <a:rPr lang="en" sz="1300">
                  <a:solidFill>
                    <a:srgbClr val="FFFFFF"/>
                  </a:solidFill>
                  <a:latin typeface="Raleway"/>
                  <a:ea typeface="Raleway"/>
                  <a:cs typeface="Raleway"/>
                  <a:sym typeface="Raleway"/>
                </a:rPr>
                <a:t>Manual taxonomy checking adds operational burden</a:t>
              </a:r>
              <a:endParaRPr sz="1300">
                <a:solidFill>
                  <a:srgbClr val="FFFFFF"/>
                </a:solidFill>
                <a:latin typeface="Raleway"/>
                <a:ea typeface="Raleway"/>
                <a:cs typeface="Raleway"/>
                <a:sym typeface="Raleway"/>
              </a:endParaRPr>
            </a:p>
          </p:txBody>
        </p:sp>
      </p:grpSp>
      <p:grpSp>
        <p:nvGrpSpPr>
          <p:cNvPr id="377" name="Google Shape;377;p36"/>
          <p:cNvGrpSpPr/>
          <p:nvPr/>
        </p:nvGrpSpPr>
        <p:grpSpPr>
          <a:xfrm>
            <a:off x="768752" y="2229585"/>
            <a:ext cx="3458696" cy="1567553"/>
            <a:chOff x="2428889" y="622010"/>
            <a:chExt cx="4286400" cy="1942685"/>
          </a:xfrm>
        </p:grpSpPr>
        <p:sp>
          <p:nvSpPr>
            <p:cNvPr id="378" name="Google Shape;378;p36"/>
            <p:cNvSpPr txBox="1"/>
            <p:nvPr/>
          </p:nvSpPr>
          <p:spPr>
            <a:xfrm>
              <a:off x="4029155" y="622010"/>
              <a:ext cx="2682000" cy="976800"/>
            </a:xfrm>
            <a:prstGeom prst="rect">
              <a:avLst/>
            </a:prstGeom>
            <a:noFill/>
            <a:ln>
              <a:noFill/>
            </a:ln>
          </p:spPr>
          <p:txBody>
            <a:bodyPr anchorCtr="0" anchor="ctr" bIns="110675" lIns="0" spcFirstLastPara="1" rIns="0" wrap="square" tIns="110675">
              <a:normAutofit/>
            </a:bodyPr>
            <a:lstStyle/>
            <a:p>
              <a:pPr indent="0" lvl="0" marL="0" rtl="0" algn="l">
                <a:spcBef>
                  <a:spcPts val="0"/>
                </a:spcBef>
                <a:spcAft>
                  <a:spcPts val="0"/>
                </a:spcAft>
                <a:buNone/>
              </a:pPr>
              <a:r>
                <a:rPr lang="en" sz="1362">
                  <a:latin typeface="Raleway"/>
                  <a:ea typeface="Raleway"/>
                  <a:cs typeface="Raleway"/>
                  <a:sym typeface="Raleway"/>
                </a:rPr>
                <a:t>Average profile completion time</a:t>
              </a:r>
              <a:endParaRPr sz="1362">
                <a:solidFill>
                  <a:srgbClr val="000000"/>
                </a:solidFill>
                <a:latin typeface="Raleway"/>
                <a:ea typeface="Raleway"/>
                <a:cs typeface="Raleway"/>
                <a:sym typeface="Raleway"/>
              </a:endParaRPr>
            </a:p>
          </p:txBody>
        </p:sp>
        <p:sp>
          <p:nvSpPr>
            <p:cNvPr id="379" name="Google Shape;379;p36"/>
            <p:cNvSpPr txBox="1"/>
            <p:nvPr/>
          </p:nvSpPr>
          <p:spPr>
            <a:xfrm>
              <a:off x="4029214" y="1587896"/>
              <a:ext cx="2682000" cy="976800"/>
            </a:xfrm>
            <a:prstGeom prst="rect">
              <a:avLst/>
            </a:prstGeom>
            <a:noFill/>
            <a:ln>
              <a:noFill/>
            </a:ln>
          </p:spPr>
          <p:txBody>
            <a:bodyPr anchorCtr="0" anchor="ctr" bIns="110675" lIns="0" spcFirstLastPara="1" rIns="0" wrap="square" tIns="110675">
              <a:noAutofit/>
            </a:bodyPr>
            <a:lstStyle/>
            <a:p>
              <a:pPr indent="0" lvl="0" marL="0" rtl="0" algn="l">
                <a:spcBef>
                  <a:spcPts val="0"/>
                </a:spcBef>
                <a:spcAft>
                  <a:spcPts val="0"/>
                </a:spcAft>
                <a:buNone/>
              </a:pPr>
              <a:r>
                <a:rPr lang="en" sz="1362">
                  <a:latin typeface="Raleway"/>
                  <a:ea typeface="Raleway"/>
                  <a:cs typeface="Raleway"/>
                  <a:sym typeface="Raleway"/>
                </a:rPr>
                <a:t>Profile completion at sign up</a:t>
              </a:r>
              <a:endParaRPr sz="1362">
                <a:solidFill>
                  <a:srgbClr val="000000"/>
                </a:solidFill>
                <a:latin typeface="Raleway"/>
                <a:ea typeface="Raleway"/>
                <a:cs typeface="Raleway"/>
                <a:sym typeface="Raleway"/>
              </a:endParaRPr>
            </a:p>
          </p:txBody>
        </p:sp>
        <p:sp>
          <p:nvSpPr>
            <p:cNvPr id="380" name="Google Shape;380;p36"/>
            <p:cNvSpPr txBox="1"/>
            <p:nvPr/>
          </p:nvSpPr>
          <p:spPr>
            <a:xfrm>
              <a:off x="2560434" y="622010"/>
              <a:ext cx="1348200" cy="976800"/>
            </a:xfrm>
            <a:prstGeom prst="rect">
              <a:avLst/>
            </a:prstGeom>
            <a:noFill/>
            <a:ln>
              <a:noFill/>
            </a:ln>
          </p:spPr>
          <p:txBody>
            <a:bodyPr anchorCtr="0" anchor="ctr" bIns="110675" lIns="73775" spcFirstLastPara="1" rIns="73775" wrap="square" tIns="110675">
              <a:normAutofit/>
            </a:bodyPr>
            <a:lstStyle/>
            <a:p>
              <a:pPr indent="0" lvl="0" marL="0" rtl="0" algn="l">
                <a:spcBef>
                  <a:spcPts val="0"/>
                </a:spcBef>
                <a:spcAft>
                  <a:spcPts val="0"/>
                </a:spcAft>
                <a:buNone/>
              </a:pPr>
              <a:r>
                <a:rPr b="1" lang="en" sz="2260">
                  <a:solidFill>
                    <a:schemeClr val="accent1"/>
                  </a:solidFill>
                  <a:latin typeface="Raleway"/>
                  <a:ea typeface="Raleway"/>
                  <a:cs typeface="Raleway"/>
                  <a:sym typeface="Raleway"/>
                </a:rPr>
                <a:t>32 min</a:t>
              </a:r>
              <a:endParaRPr b="1" sz="2260">
                <a:solidFill>
                  <a:schemeClr val="accent1"/>
                </a:solidFill>
                <a:latin typeface="Raleway"/>
                <a:ea typeface="Raleway"/>
                <a:cs typeface="Raleway"/>
                <a:sym typeface="Raleway"/>
              </a:endParaRPr>
            </a:p>
          </p:txBody>
        </p:sp>
        <p:sp>
          <p:nvSpPr>
            <p:cNvPr id="381" name="Google Shape;381;p36"/>
            <p:cNvSpPr txBox="1"/>
            <p:nvPr/>
          </p:nvSpPr>
          <p:spPr>
            <a:xfrm>
              <a:off x="2560443" y="1587875"/>
              <a:ext cx="1178700" cy="976800"/>
            </a:xfrm>
            <a:prstGeom prst="rect">
              <a:avLst/>
            </a:prstGeom>
            <a:noFill/>
            <a:ln>
              <a:noFill/>
            </a:ln>
          </p:spPr>
          <p:txBody>
            <a:bodyPr anchorCtr="0" anchor="ctr" bIns="110675" lIns="73775" spcFirstLastPara="1" rIns="73775" wrap="square" tIns="110675">
              <a:normAutofit/>
            </a:bodyPr>
            <a:lstStyle/>
            <a:p>
              <a:pPr indent="0" lvl="0" marL="0" rtl="0" algn="l">
                <a:spcBef>
                  <a:spcPts val="0"/>
                </a:spcBef>
                <a:spcAft>
                  <a:spcPts val="0"/>
                </a:spcAft>
                <a:buNone/>
              </a:pPr>
              <a:r>
                <a:rPr b="1" lang="en" sz="2260">
                  <a:solidFill>
                    <a:schemeClr val="accent1"/>
                  </a:solidFill>
                  <a:latin typeface="Raleway"/>
                  <a:ea typeface="Raleway"/>
                  <a:cs typeface="Raleway"/>
                  <a:sym typeface="Raleway"/>
                </a:rPr>
                <a:t>13%</a:t>
              </a:r>
              <a:endParaRPr b="1" sz="2260">
                <a:solidFill>
                  <a:schemeClr val="accent1"/>
                </a:solidFill>
                <a:latin typeface="Raleway"/>
                <a:ea typeface="Raleway"/>
                <a:cs typeface="Raleway"/>
                <a:sym typeface="Raleway"/>
              </a:endParaRPr>
            </a:p>
          </p:txBody>
        </p:sp>
        <p:cxnSp>
          <p:nvCxnSpPr>
            <p:cNvPr id="382" name="Google Shape;382;p36"/>
            <p:cNvCxnSpPr/>
            <p:nvPr/>
          </p:nvCxnSpPr>
          <p:spPr>
            <a:xfrm rot="10800000">
              <a:off x="2428889" y="1598800"/>
              <a:ext cx="4286400" cy="0"/>
            </a:xfrm>
            <a:prstGeom prst="straightConnector1">
              <a:avLst/>
            </a:prstGeom>
            <a:noFill/>
            <a:ln cap="flat" cmpd="sng" w="7700">
              <a:solidFill>
                <a:srgbClr val="000000"/>
              </a:solidFill>
              <a:prstDash val="solid"/>
              <a:round/>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txBox="1"/>
          <p:nvPr>
            <p:ph type="title"/>
          </p:nvPr>
        </p:nvSpPr>
        <p:spPr>
          <a:xfrm>
            <a:off x="592350" y="681850"/>
            <a:ext cx="7840200" cy="66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The Current Onboarding Flow Has 7 Key Points</a:t>
            </a:r>
            <a:endParaRPr sz="2600"/>
          </a:p>
        </p:txBody>
      </p:sp>
      <p:sp>
        <p:nvSpPr>
          <p:cNvPr id="388" name="Google Shape;388;p37"/>
          <p:cNvSpPr/>
          <p:nvPr/>
        </p:nvSpPr>
        <p:spPr>
          <a:xfrm>
            <a:off x="592350" y="1644408"/>
            <a:ext cx="1483500" cy="572400"/>
          </a:xfrm>
          <a:prstGeom prst="homePlate">
            <a:avLst>
              <a:gd fmla="val 50000" name="adj"/>
            </a:avLst>
          </a:prstGeom>
          <a:solidFill>
            <a:srgbClr val="0E2A47"/>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User downloads app</a:t>
            </a:r>
            <a:endParaRPr b="1" sz="914">
              <a:solidFill>
                <a:srgbClr val="FFFFFF"/>
              </a:solidFill>
              <a:latin typeface="Raleway"/>
              <a:ea typeface="Raleway"/>
              <a:cs typeface="Raleway"/>
              <a:sym typeface="Raleway"/>
            </a:endParaRPr>
          </a:p>
        </p:txBody>
      </p:sp>
      <p:sp>
        <p:nvSpPr>
          <p:cNvPr id="389" name="Google Shape;389;p37"/>
          <p:cNvSpPr/>
          <p:nvPr/>
        </p:nvSpPr>
        <p:spPr>
          <a:xfrm>
            <a:off x="1823820" y="1644225"/>
            <a:ext cx="1382400" cy="572400"/>
          </a:xfrm>
          <a:prstGeom prst="chevron">
            <a:avLst>
              <a:gd fmla="val 50000" name="adj"/>
            </a:avLst>
          </a:prstGeom>
          <a:solidFill>
            <a:srgbClr val="0E2A47"/>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Begins creating account</a:t>
            </a:r>
            <a:endParaRPr b="1" sz="914">
              <a:solidFill>
                <a:srgbClr val="FFFFFF"/>
              </a:solidFill>
              <a:latin typeface="Raleway"/>
              <a:ea typeface="Raleway"/>
              <a:cs typeface="Raleway"/>
              <a:sym typeface="Raleway"/>
            </a:endParaRPr>
          </a:p>
        </p:txBody>
      </p:sp>
      <p:sp>
        <p:nvSpPr>
          <p:cNvPr id="390" name="Google Shape;390;p37"/>
          <p:cNvSpPr/>
          <p:nvPr/>
        </p:nvSpPr>
        <p:spPr>
          <a:xfrm>
            <a:off x="2948175" y="1644225"/>
            <a:ext cx="1382400" cy="572400"/>
          </a:xfrm>
          <a:prstGeom prst="chevron">
            <a:avLst>
              <a:gd fmla="val 50000" name="adj"/>
            </a:avLst>
          </a:prstGeom>
          <a:solidFill>
            <a:srgbClr val="0E2A47"/>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Enters basic info</a:t>
            </a:r>
            <a:endParaRPr b="1" sz="914">
              <a:solidFill>
                <a:srgbClr val="FFFFFF"/>
              </a:solidFill>
              <a:latin typeface="Raleway"/>
              <a:ea typeface="Raleway"/>
              <a:cs typeface="Raleway"/>
              <a:sym typeface="Raleway"/>
            </a:endParaRPr>
          </a:p>
        </p:txBody>
      </p:sp>
      <p:sp>
        <p:nvSpPr>
          <p:cNvPr id="391" name="Google Shape;391;p37"/>
          <p:cNvSpPr/>
          <p:nvPr/>
        </p:nvSpPr>
        <p:spPr>
          <a:xfrm>
            <a:off x="5197170" y="1644225"/>
            <a:ext cx="1382400" cy="572400"/>
          </a:xfrm>
          <a:prstGeom prst="chevron">
            <a:avLst>
              <a:gd fmla="val 50000" name="adj"/>
            </a:avLst>
          </a:prstGeom>
          <a:solidFill>
            <a:srgbClr val="5F7D95"/>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Enters education and skills</a:t>
            </a:r>
            <a:endParaRPr b="1" sz="914">
              <a:solidFill>
                <a:srgbClr val="FFFFFF"/>
              </a:solidFill>
              <a:latin typeface="Raleway"/>
              <a:ea typeface="Raleway"/>
              <a:cs typeface="Raleway"/>
              <a:sym typeface="Raleway"/>
            </a:endParaRPr>
          </a:p>
        </p:txBody>
      </p:sp>
      <p:sp>
        <p:nvSpPr>
          <p:cNvPr id="392" name="Google Shape;392;p37"/>
          <p:cNvSpPr/>
          <p:nvPr/>
        </p:nvSpPr>
        <p:spPr>
          <a:xfrm>
            <a:off x="4072648" y="1644225"/>
            <a:ext cx="1382400" cy="572400"/>
          </a:xfrm>
          <a:prstGeom prst="chevron">
            <a:avLst>
              <a:gd fmla="val 50000" name="adj"/>
            </a:avLst>
          </a:prstGeom>
          <a:solidFill>
            <a:srgbClr val="FFCB05"/>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chemeClr val="dk1"/>
                </a:solidFill>
                <a:latin typeface="Raleway"/>
                <a:ea typeface="Raleway"/>
                <a:cs typeface="Raleway"/>
                <a:sym typeface="Raleway"/>
              </a:rPr>
              <a:t>Enters work history</a:t>
            </a:r>
            <a:endParaRPr b="1" sz="914">
              <a:solidFill>
                <a:schemeClr val="dk1"/>
              </a:solidFill>
              <a:latin typeface="Raleway"/>
              <a:ea typeface="Raleway"/>
              <a:cs typeface="Raleway"/>
              <a:sym typeface="Raleway"/>
            </a:endParaRPr>
          </a:p>
        </p:txBody>
      </p:sp>
      <p:sp>
        <p:nvSpPr>
          <p:cNvPr id="393" name="Google Shape;393;p37"/>
          <p:cNvSpPr/>
          <p:nvPr/>
        </p:nvSpPr>
        <p:spPr>
          <a:xfrm>
            <a:off x="6321454" y="1644225"/>
            <a:ext cx="1382400" cy="572400"/>
          </a:xfrm>
          <a:prstGeom prst="chevron">
            <a:avLst>
              <a:gd fmla="val 50000" name="adj"/>
            </a:avLst>
          </a:prstGeom>
          <a:solidFill>
            <a:srgbClr val="5F7D95"/>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Enters DOB, hobbies, social links</a:t>
            </a:r>
            <a:endParaRPr b="1" sz="914">
              <a:solidFill>
                <a:srgbClr val="FFFFFF"/>
              </a:solidFill>
              <a:latin typeface="Raleway"/>
              <a:ea typeface="Raleway"/>
              <a:cs typeface="Raleway"/>
              <a:sym typeface="Raleway"/>
            </a:endParaRPr>
          </a:p>
        </p:txBody>
      </p:sp>
      <p:sp>
        <p:nvSpPr>
          <p:cNvPr id="394" name="Google Shape;394;p37"/>
          <p:cNvSpPr/>
          <p:nvPr/>
        </p:nvSpPr>
        <p:spPr>
          <a:xfrm>
            <a:off x="7446175" y="1644225"/>
            <a:ext cx="1382400" cy="572400"/>
          </a:xfrm>
          <a:prstGeom prst="chevron">
            <a:avLst>
              <a:gd fmla="val 50000" name="adj"/>
            </a:avLst>
          </a:prstGeom>
          <a:solidFill>
            <a:srgbClr val="9FA0A4"/>
          </a:solidFill>
          <a:ln>
            <a:noFill/>
          </a:ln>
        </p:spPr>
        <p:txBody>
          <a:bodyPr anchorCtr="0" anchor="ctr" bIns="59675" lIns="59675" spcFirstLastPara="1" rIns="59675" wrap="square" tIns="59675">
            <a:noAutofit/>
          </a:bodyPr>
          <a:lstStyle/>
          <a:p>
            <a:pPr indent="0" lvl="0" marL="0" rtl="0" algn="ctr">
              <a:spcBef>
                <a:spcPts val="0"/>
              </a:spcBef>
              <a:spcAft>
                <a:spcPts val="0"/>
              </a:spcAft>
              <a:buNone/>
            </a:pPr>
            <a:r>
              <a:rPr b="1" lang="en" sz="914">
                <a:solidFill>
                  <a:srgbClr val="FFFFFF"/>
                </a:solidFill>
                <a:latin typeface="Raleway"/>
                <a:ea typeface="Raleway"/>
                <a:cs typeface="Raleway"/>
                <a:sym typeface="Raleway"/>
              </a:rPr>
              <a:t>Submits complete profile</a:t>
            </a:r>
            <a:endParaRPr b="1" sz="914">
              <a:solidFill>
                <a:srgbClr val="FFFFFF"/>
              </a:solidFill>
              <a:latin typeface="Raleway"/>
              <a:ea typeface="Raleway"/>
              <a:cs typeface="Raleway"/>
              <a:sym typeface="Raleway"/>
            </a:endParaRPr>
          </a:p>
        </p:txBody>
      </p:sp>
      <p:sp>
        <p:nvSpPr>
          <p:cNvPr id="395" name="Google Shape;395;p37"/>
          <p:cNvSpPr txBox="1"/>
          <p:nvPr/>
        </p:nvSpPr>
        <p:spPr>
          <a:xfrm>
            <a:off x="4294500" y="2216800"/>
            <a:ext cx="902700" cy="43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14">
                <a:solidFill>
                  <a:schemeClr val="dk1"/>
                </a:solidFill>
                <a:latin typeface="Raleway"/>
                <a:ea typeface="Raleway"/>
                <a:cs typeface="Raleway"/>
                <a:sym typeface="Raleway"/>
              </a:rPr>
              <a:t>Highest drop-off point</a:t>
            </a:r>
            <a:endParaRPr sz="1300"/>
          </a:p>
        </p:txBody>
      </p:sp>
      <p:pic>
        <p:nvPicPr>
          <p:cNvPr descr="File:Warning sign – red triangular hazard icon with exclamation ..." id="396" name="Google Shape;396;p37"/>
          <p:cNvPicPr preferRelativeResize="0"/>
          <p:nvPr/>
        </p:nvPicPr>
        <p:blipFill>
          <a:blip r:embed="rId3">
            <a:alphaModFix/>
          </a:blip>
          <a:stretch>
            <a:fillRect/>
          </a:stretch>
        </p:blipFill>
        <p:spPr>
          <a:xfrm>
            <a:off x="4110648" y="2349701"/>
            <a:ext cx="183849" cy="169500"/>
          </a:xfrm>
          <a:prstGeom prst="rect">
            <a:avLst/>
          </a:prstGeom>
          <a:noFill/>
          <a:ln>
            <a:noFill/>
          </a:ln>
        </p:spPr>
      </p:pic>
      <p:sp>
        <p:nvSpPr>
          <p:cNvPr id="397" name="Google Shape;397;p37"/>
          <p:cNvSpPr txBox="1"/>
          <p:nvPr/>
        </p:nvSpPr>
        <p:spPr>
          <a:xfrm>
            <a:off x="7415850" y="2216800"/>
            <a:ext cx="1236300" cy="56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14">
                <a:solidFill>
                  <a:schemeClr val="dk1"/>
                </a:solidFill>
                <a:latin typeface="Raleway"/>
                <a:ea typeface="Raleway"/>
                <a:cs typeface="Raleway"/>
                <a:sym typeface="Raleway"/>
              </a:rPr>
              <a:t>Only a fraction of users who start ever reach this step</a:t>
            </a:r>
            <a:endParaRPr sz="1300"/>
          </a:p>
        </p:txBody>
      </p:sp>
      <p:sp>
        <p:nvSpPr>
          <p:cNvPr id="398" name="Google Shape;398;p37"/>
          <p:cNvSpPr txBox="1"/>
          <p:nvPr/>
        </p:nvSpPr>
        <p:spPr>
          <a:xfrm>
            <a:off x="592350" y="2659475"/>
            <a:ext cx="3738300" cy="4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aleway"/>
                <a:ea typeface="Raleway"/>
                <a:cs typeface="Raleway"/>
                <a:sym typeface="Raleway"/>
              </a:rPr>
              <a:t>What users told us:</a:t>
            </a:r>
            <a:endParaRPr b="1">
              <a:solidFill>
                <a:schemeClr val="dk1"/>
              </a:solidFill>
              <a:latin typeface="Raleway"/>
              <a:ea typeface="Raleway"/>
              <a:cs typeface="Raleway"/>
              <a:sym typeface="Raleway"/>
            </a:endParaRPr>
          </a:p>
          <a:p>
            <a:pPr indent="0" lvl="0" marL="0" rtl="0" algn="l">
              <a:spcBef>
                <a:spcPts val="1000"/>
              </a:spcBef>
              <a:spcAft>
                <a:spcPts val="1000"/>
              </a:spcAft>
              <a:buNone/>
            </a:pPr>
            <a:r>
              <a:t/>
            </a:r>
            <a:endParaRPr>
              <a:solidFill>
                <a:schemeClr val="dk1"/>
              </a:solidFill>
              <a:latin typeface="Raleway Medium"/>
              <a:ea typeface="Raleway Medium"/>
              <a:cs typeface="Raleway Medium"/>
              <a:sym typeface="Raleway Medium"/>
            </a:endParaRPr>
          </a:p>
        </p:txBody>
      </p:sp>
      <p:sp>
        <p:nvSpPr>
          <p:cNvPr id="399" name="Google Shape;399;p37"/>
          <p:cNvSpPr txBox="1"/>
          <p:nvPr/>
        </p:nvSpPr>
        <p:spPr>
          <a:xfrm>
            <a:off x="666575" y="3094775"/>
            <a:ext cx="4656000" cy="151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Raleway Medium"/>
              <a:buChar char="➔"/>
            </a:pPr>
            <a:r>
              <a:rPr lang="en">
                <a:solidFill>
                  <a:schemeClr val="dk1"/>
                </a:solidFill>
                <a:latin typeface="Raleway Medium"/>
                <a:ea typeface="Raleway Medium"/>
                <a:cs typeface="Raleway Medium"/>
                <a:sym typeface="Raleway Medium"/>
              </a:rPr>
              <a:t>"I didn't know how long it would take"</a:t>
            </a:r>
            <a:endParaRPr>
              <a:solidFill>
                <a:schemeClr val="dk1"/>
              </a:solidFill>
              <a:latin typeface="Raleway Medium"/>
              <a:ea typeface="Raleway Medium"/>
              <a:cs typeface="Raleway Medium"/>
              <a:sym typeface="Raleway Medium"/>
            </a:endParaRPr>
          </a:p>
          <a:p>
            <a:pPr indent="-317500" lvl="0" marL="457200" rtl="0" algn="l">
              <a:spcBef>
                <a:spcPts val="1000"/>
              </a:spcBef>
              <a:spcAft>
                <a:spcPts val="0"/>
              </a:spcAft>
              <a:buClr>
                <a:schemeClr val="dk1"/>
              </a:buClr>
              <a:buSzPts val="1400"/>
              <a:buFont typeface="Raleway Medium"/>
              <a:buChar char="➔"/>
            </a:pPr>
            <a:r>
              <a:rPr lang="en">
                <a:solidFill>
                  <a:schemeClr val="dk1"/>
                </a:solidFill>
                <a:latin typeface="Raleway Medium"/>
                <a:ea typeface="Raleway Medium"/>
                <a:cs typeface="Raleway Medium"/>
                <a:sym typeface="Raleway Medium"/>
              </a:rPr>
              <a:t>"I wasn't ready to put all this in before I could see how the platform works"</a:t>
            </a:r>
            <a:endParaRPr>
              <a:solidFill>
                <a:schemeClr val="dk1"/>
              </a:solidFill>
              <a:latin typeface="Raleway Medium"/>
              <a:ea typeface="Raleway Medium"/>
              <a:cs typeface="Raleway Medium"/>
              <a:sym typeface="Raleway Medium"/>
            </a:endParaRPr>
          </a:p>
          <a:p>
            <a:pPr indent="-317500" lvl="0" marL="457200" rtl="0" algn="l">
              <a:spcBef>
                <a:spcPts val="1000"/>
              </a:spcBef>
              <a:spcAft>
                <a:spcPts val="1000"/>
              </a:spcAft>
              <a:buClr>
                <a:schemeClr val="dk1"/>
              </a:buClr>
              <a:buSzPts val="1400"/>
              <a:buFont typeface="Raleway Medium"/>
              <a:buChar char="➔"/>
            </a:pPr>
            <a:r>
              <a:rPr lang="en">
                <a:solidFill>
                  <a:schemeClr val="dk1"/>
                </a:solidFill>
                <a:latin typeface="Raleway Medium"/>
                <a:ea typeface="Raleway Medium"/>
                <a:cs typeface="Raleway Medium"/>
                <a:sym typeface="Raleway Medium"/>
              </a:rPr>
              <a:t>“I skipped sections and planned to come back but never finished”</a:t>
            </a:r>
            <a:endParaRPr>
              <a:solidFill>
                <a:schemeClr val="dk1"/>
              </a:solidFill>
              <a:latin typeface="Raleway Medium"/>
              <a:ea typeface="Raleway Medium"/>
              <a:cs typeface="Raleway Medium"/>
              <a:sym typeface="Raleway Medium"/>
            </a:endParaRPr>
          </a:p>
        </p:txBody>
      </p:sp>
      <p:sp>
        <p:nvSpPr>
          <p:cNvPr id="400" name="Google Shape;400;p37"/>
          <p:cNvSpPr/>
          <p:nvPr/>
        </p:nvSpPr>
        <p:spPr>
          <a:xfrm>
            <a:off x="5845200" y="3094775"/>
            <a:ext cx="2406300" cy="1355100"/>
          </a:xfrm>
          <a:prstGeom prst="roundRect">
            <a:avLst>
              <a:gd fmla="val 16667" name="adj"/>
            </a:avLst>
          </a:prstGeom>
          <a:solidFill>
            <a:srgbClr val="FFCB05"/>
          </a:solidFill>
          <a:ln cap="flat" cmpd="sng" w="19050">
            <a:solidFill>
              <a:schemeClr val="dk1"/>
            </a:solidFill>
            <a:prstDash val="solid"/>
            <a:round/>
            <a:headEnd len="sm" w="sm" type="none"/>
            <a:tailEnd len="sm" w="sm" type="none"/>
          </a:ln>
        </p:spPr>
        <p:txBody>
          <a:bodyPr anchorCtr="0" anchor="ctr" bIns="104400" lIns="104400" spcFirstLastPara="1" rIns="104400" wrap="square" tIns="104400">
            <a:noAutofit/>
          </a:bodyPr>
          <a:lstStyle/>
          <a:p>
            <a:pPr indent="0" lvl="0" marL="0" rtl="0" algn="ctr">
              <a:spcBef>
                <a:spcPts val="0"/>
              </a:spcBef>
              <a:spcAft>
                <a:spcPts val="0"/>
              </a:spcAft>
              <a:buNone/>
            </a:pPr>
            <a:r>
              <a:t/>
            </a:r>
            <a:endParaRPr sz="1599">
              <a:latin typeface="Raleway Medium"/>
              <a:ea typeface="Raleway Medium"/>
              <a:cs typeface="Raleway Medium"/>
              <a:sym typeface="Raleway Medium"/>
            </a:endParaRPr>
          </a:p>
        </p:txBody>
      </p:sp>
      <p:sp>
        <p:nvSpPr>
          <p:cNvPr id="401" name="Google Shape;401;p37"/>
          <p:cNvSpPr txBox="1"/>
          <p:nvPr/>
        </p:nvSpPr>
        <p:spPr>
          <a:xfrm>
            <a:off x="5951100" y="3125075"/>
            <a:ext cx="2194500" cy="1262700"/>
          </a:xfrm>
          <a:prstGeom prst="rect">
            <a:avLst/>
          </a:prstGeom>
          <a:noFill/>
          <a:ln>
            <a:noFill/>
          </a:ln>
        </p:spPr>
        <p:txBody>
          <a:bodyPr anchorCtr="0" anchor="t" bIns="104400" lIns="104400" spcFirstLastPara="1" rIns="104400" wrap="square" tIns="104400">
            <a:spAutoFit/>
          </a:bodyPr>
          <a:lstStyle/>
          <a:p>
            <a:pPr indent="0" lvl="0" marL="0" rtl="0" algn="ctr">
              <a:spcBef>
                <a:spcPts val="0"/>
              </a:spcBef>
              <a:spcAft>
                <a:spcPts val="0"/>
              </a:spcAft>
              <a:buNone/>
            </a:pPr>
            <a:r>
              <a:rPr b="1" lang="en" sz="1500">
                <a:solidFill>
                  <a:schemeClr val="accent2"/>
                </a:solidFill>
                <a:latin typeface="Raleway"/>
                <a:ea typeface="Raleway"/>
                <a:cs typeface="Raleway"/>
                <a:sym typeface="Raleway"/>
              </a:rPr>
              <a:t>Key Finding:</a:t>
            </a:r>
            <a:endParaRPr b="1" sz="1500">
              <a:solidFill>
                <a:schemeClr val="accent2"/>
              </a:solidFill>
              <a:latin typeface="Raleway"/>
              <a:ea typeface="Raleway"/>
              <a:cs typeface="Raleway"/>
              <a:sym typeface="Raleway"/>
            </a:endParaRPr>
          </a:p>
          <a:p>
            <a:pPr indent="0" lvl="0" marL="0" rtl="0" algn="ctr">
              <a:spcBef>
                <a:spcPts val="1000"/>
              </a:spcBef>
              <a:spcAft>
                <a:spcPts val="1142"/>
              </a:spcAft>
              <a:buNone/>
            </a:pPr>
            <a:r>
              <a:rPr lang="en" sz="1500">
                <a:solidFill>
                  <a:schemeClr val="accent2"/>
                </a:solidFill>
                <a:latin typeface="Raleway Medium"/>
                <a:ea typeface="Raleway Medium"/>
                <a:cs typeface="Raleway Medium"/>
                <a:sym typeface="Raleway Medium"/>
              </a:rPr>
              <a:t> Users are reluctant to invest time before experiencing value</a:t>
            </a:r>
            <a:endParaRPr sz="150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8"/>
          <p:cNvSpPr txBox="1"/>
          <p:nvPr>
            <p:ph type="title"/>
          </p:nvPr>
        </p:nvSpPr>
        <p:spPr>
          <a:xfrm>
            <a:off x="4906325" y="2018175"/>
            <a:ext cx="3918900" cy="7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Approach</a:t>
            </a:r>
            <a:endParaRPr/>
          </a:p>
        </p:txBody>
      </p:sp>
      <p:sp>
        <p:nvSpPr>
          <p:cNvPr id="407" name="Google Shape;407;p38"/>
          <p:cNvSpPr txBox="1"/>
          <p:nvPr>
            <p:ph idx="2" type="title"/>
          </p:nvPr>
        </p:nvSpPr>
        <p:spPr>
          <a:xfrm>
            <a:off x="4963434" y="924863"/>
            <a:ext cx="9540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descr="Close-up of business team creating mind map on paperboard during a meeting in the office. (Provided by Getty Images)" id="408" name="Google Shape;408;p38"/>
          <p:cNvPicPr preferRelativeResize="0"/>
          <p:nvPr>
            <p:ph idx="3" type="pic"/>
          </p:nvPr>
        </p:nvPicPr>
        <p:blipFill rotWithShape="1">
          <a:blip r:embed="rId3">
            <a:alphaModFix/>
          </a:blip>
          <a:srcRect b="0" l="27365" r="27365" t="0"/>
          <a:stretch/>
        </p:blipFill>
        <p:spPr>
          <a:xfrm>
            <a:off x="1322338" y="539500"/>
            <a:ext cx="2760602" cy="4064502"/>
          </a:xfrm>
          <a:prstGeom prst="rect">
            <a:avLst/>
          </a:prstGeom>
        </p:spPr>
      </p:pic>
      <p:sp>
        <p:nvSpPr>
          <p:cNvPr id="409" name="Google Shape;409;p38"/>
          <p:cNvSpPr/>
          <p:nvPr/>
        </p:nvSpPr>
        <p:spPr>
          <a:xfrm>
            <a:off x="4963433" y="4179925"/>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0" name="Google Shape;410;p38"/>
          <p:cNvSpPr txBox="1"/>
          <p:nvPr>
            <p:ph idx="4294967295" type="subTitle"/>
          </p:nvPr>
        </p:nvSpPr>
        <p:spPr>
          <a:xfrm>
            <a:off x="4906325" y="2794875"/>
            <a:ext cx="3513900" cy="10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Three phase roadmap to deliver an AI-powered proof of concept</a:t>
            </a:r>
            <a:endParaRPr b="1" sz="1800">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9"/>
          <p:cNvSpPr txBox="1"/>
          <p:nvPr>
            <p:ph type="title"/>
          </p:nvPr>
        </p:nvSpPr>
        <p:spPr>
          <a:xfrm>
            <a:off x="654250" y="665125"/>
            <a:ext cx="7259700" cy="713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Three Core Findings Shaped Our Approach</a:t>
            </a:r>
            <a:endParaRPr sz="2600"/>
          </a:p>
        </p:txBody>
      </p:sp>
      <p:grpSp>
        <p:nvGrpSpPr>
          <p:cNvPr id="416" name="Google Shape;416;p39"/>
          <p:cNvGrpSpPr/>
          <p:nvPr/>
        </p:nvGrpSpPr>
        <p:grpSpPr>
          <a:xfrm>
            <a:off x="654245" y="1628985"/>
            <a:ext cx="2436016" cy="2853081"/>
            <a:chOff x="1118218" y="249674"/>
            <a:chExt cx="2048105" cy="2582675"/>
          </a:xfrm>
        </p:grpSpPr>
        <p:sp>
          <p:nvSpPr>
            <p:cNvPr id="417" name="Google Shape;417;p39"/>
            <p:cNvSpPr/>
            <p:nvPr/>
          </p:nvSpPr>
          <p:spPr>
            <a:xfrm>
              <a:off x="1118224" y="341749"/>
              <a:ext cx="2048100" cy="24906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418" name="Google Shape;418;p39"/>
            <p:cNvSpPr/>
            <p:nvPr/>
          </p:nvSpPr>
          <p:spPr>
            <a:xfrm>
              <a:off x="1524495" y="449118"/>
              <a:ext cx="1587000" cy="5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Manual </a:t>
              </a:r>
              <a:r>
                <a:rPr b="1" lang="en" sz="1200">
                  <a:latin typeface="Raleway"/>
                  <a:ea typeface="Raleway"/>
                  <a:cs typeface="Raleway"/>
                  <a:sym typeface="Raleway"/>
                </a:rPr>
                <a:t>Entry Is the Primary Barrier</a:t>
              </a:r>
              <a:endParaRPr b="1" sz="1200">
                <a:latin typeface="Raleway"/>
                <a:ea typeface="Raleway"/>
                <a:cs typeface="Raleway"/>
                <a:sym typeface="Raleway"/>
              </a:endParaRPr>
            </a:p>
          </p:txBody>
        </p:sp>
        <p:sp>
          <p:nvSpPr>
            <p:cNvPr id="419" name="Google Shape;419;p39"/>
            <p:cNvSpPr/>
            <p:nvPr/>
          </p:nvSpPr>
          <p:spPr>
            <a:xfrm>
              <a:off x="1118218" y="1009230"/>
              <a:ext cx="2048100" cy="17823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aleway"/>
                <a:buChar char="●"/>
              </a:pPr>
              <a:r>
                <a:rPr b="1" lang="en" sz="1000">
                  <a:latin typeface="Raleway"/>
                  <a:ea typeface="Raleway"/>
                  <a:cs typeface="Raleway"/>
                  <a:sym typeface="Raleway"/>
                </a:rPr>
                <a:t>Users averaged 32 minutes to complete onboarding</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Drop-off increased sharply after work history</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More required fields reduced completion likelihood</a:t>
              </a:r>
              <a:endParaRPr b="1" sz="1000">
                <a:latin typeface="Raleway"/>
                <a:ea typeface="Raleway"/>
                <a:cs typeface="Raleway"/>
                <a:sym typeface="Raleway"/>
              </a:endParaRPr>
            </a:p>
            <a:p>
              <a:pPr indent="-292100" lvl="0" marL="457200" rtl="0" algn="l">
                <a:lnSpc>
                  <a:spcPct val="115000"/>
                </a:lnSpc>
                <a:spcBef>
                  <a:spcPts val="1000"/>
                </a:spcBef>
                <a:spcAft>
                  <a:spcPts val="1000"/>
                </a:spcAft>
                <a:buSzPts val="1000"/>
                <a:buFont typeface="Raleway"/>
                <a:buChar char="●"/>
              </a:pPr>
              <a:r>
                <a:rPr b="1" lang="en" sz="1000">
                  <a:latin typeface="Raleway"/>
                  <a:ea typeface="Raleway"/>
                  <a:cs typeface="Raleway"/>
                  <a:sym typeface="Raleway"/>
                </a:rPr>
                <a:t>Top complaint: “Too much to fill in”</a:t>
              </a:r>
              <a:endParaRPr b="1" sz="1000">
                <a:latin typeface="Raleway"/>
                <a:ea typeface="Raleway"/>
                <a:cs typeface="Raleway"/>
                <a:sym typeface="Raleway"/>
              </a:endParaRPr>
            </a:p>
          </p:txBody>
        </p:sp>
        <p:sp>
          <p:nvSpPr>
            <p:cNvPr id="420" name="Google Shape;420;p39"/>
            <p:cNvSpPr/>
            <p:nvPr/>
          </p:nvSpPr>
          <p:spPr>
            <a:xfrm>
              <a:off x="1170132" y="249674"/>
              <a:ext cx="389400" cy="6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chemeClr val="accent1"/>
                  </a:solidFill>
                  <a:latin typeface="Raleway"/>
                  <a:ea typeface="Raleway"/>
                  <a:cs typeface="Raleway"/>
                  <a:sym typeface="Raleway"/>
                </a:rPr>
                <a:t>1</a:t>
              </a:r>
              <a:endParaRPr sz="4000">
                <a:solidFill>
                  <a:schemeClr val="accent1"/>
                </a:solidFill>
                <a:latin typeface="Raleway Thin"/>
                <a:ea typeface="Raleway Thin"/>
                <a:cs typeface="Raleway Thin"/>
                <a:sym typeface="Raleway Thin"/>
              </a:endParaRPr>
            </a:p>
          </p:txBody>
        </p:sp>
      </p:grpSp>
      <p:grpSp>
        <p:nvGrpSpPr>
          <p:cNvPr id="421" name="Google Shape;421;p39"/>
          <p:cNvGrpSpPr/>
          <p:nvPr/>
        </p:nvGrpSpPr>
        <p:grpSpPr>
          <a:xfrm>
            <a:off x="3371558" y="1628973"/>
            <a:ext cx="2526317" cy="2853081"/>
            <a:chOff x="1042298" y="249674"/>
            <a:chExt cx="2124026" cy="2582675"/>
          </a:xfrm>
        </p:grpSpPr>
        <p:sp>
          <p:nvSpPr>
            <p:cNvPr id="422" name="Google Shape;422;p39"/>
            <p:cNvSpPr/>
            <p:nvPr/>
          </p:nvSpPr>
          <p:spPr>
            <a:xfrm>
              <a:off x="1118224" y="341749"/>
              <a:ext cx="2048100" cy="24906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423" name="Google Shape;423;p39"/>
            <p:cNvSpPr/>
            <p:nvPr/>
          </p:nvSpPr>
          <p:spPr>
            <a:xfrm>
              <a:off x="1524495" y="449118"/>
              <a:ext cx="1587000" cy="5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Field Design Creates Unnecessary Friction</a:t>
              </a:r>
              <a:endParaRPr b="1" sz="1200">
                <a:latin typeface="Raleway"/>
                <a:ea typeface="Raleway"/>
                <a:cs typeface="Raleway"/>
                <a:sym typeface="Raleway"/>
              </a:endParaRPr>
            </a:p>
          </p:txBody>
        </p:sp>
        <p:sp>
          <p:nvSpPr>
            <p:cNvPr id="424" name="Google Shape;424;p39"/>
            <p:cNvSpPr/>
            <p:nvPr/>
          </p:nvSpPr>
          <p:spPr>
            <a:xfrm>
              <a:off x="1042298" y="1009230"/>
              <a:ext cx="2124000" cy="17823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aleway"/>
                <a:buChar char="●"/>
              </a:pPr>
              <a:r>
                <a:rPr b="1" lang="en" sz="1000">
                  <a:latin typeface="Raleway"/>
                  <a:ea typeface="Raleway"/>
                  <a:cs typeface="Raleway"/>
                  <a:sym typeface="Raleway"/>
                </a:rPr>
                <a:t>Several required fields are not matching-critical</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DOB, hobbies, and extra social links add unnecessary load</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Open-ended fields created uncertainty</a:t>
              </a:r>
              <a:endParaRPr b="1" sz="1000">
                <a:latin typeface="Raleway"/>
                <a:ea typeface="Raleway"/>
                <a:cs typeface="Raleway"/>
                <a:sym typeface="Raleway"/>
              </a:endParaRPr>
            </a:p>
            <a:p>
              <a:pPr indent="-292100" lvl="0" marL="457200" rtl="0" algn="l">
                <a:lnSpc>
                  <a:spcPct val="115000"/>
                </a:lnSpc>
                <a:spcBef>
                  <a:spcPts val="1000"/>
                </a:spcBef>
                <a:spcAft>
                  <a:spcPts val="1000"/>
                </a:spcAft>
                <a:buSzPts val="1000"/>
                <a:buFont typeface="Raleway"/>
                <a:buChar char="●"/>
              </a:pPr>
              <a:r>
                <a:rPr b="1" lang="en" sz="1000">
                  <a:latin typeface="Raleway"/>
                  <a:ea typeface="Raleway"/>
                  <a:cs typeface="Raleway"/>
                  <a:sym typeface="Raleway"/>
                </a:rPr>
                <a:t>Some fields felt confusing or inapplicable</a:t>
              </a:r>
              <a:endParaRPr b="1" sz="1000">
                <a:latin typeface="Raleway"/>
                <a:ea typeface="Raleway"/>
                <a:cs typeface="Raleway"/>
                <a:sym typeface="Raleway"/>
              </a:endParaRPr>
            </a:p>
          </p:txBody>
        </p:sp>
        <p:sp>
          <p:nvSpPr>
            <p:cNvPr id="425" name="Google Shape;425;p39"/>
            <p:cNvSpPr/>
            <p:nvPr/>
          </p:nvSpPr>
          <p:spPr>
            <a:xfrm>
              <a:off x="1170132" y="249674"/>
              <a:ext cx="389400" cy="6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chemeClr val="accent1"/>
                  </a:solidFill>
                  <a:latin typeface="Raleway"/>
                  <a:ea typeface="Raleway"/>
                  <a:cs typeface="Raleway"/>
                  <a:sym typeface="Raleway"/>
                </a:rPr>
                <a:t>2</a:t>
              </a:r>
              <a:endParaRPr sz="4000">
                <a:solidFill>
                  <a:schemeClr val="accent1"/>
                </a:solidFill>
                <a:latin typeface="Raleway Thin"/>
                <a:ea typeface="Raleway Thin"/>
                <a:cs typeface="Raleway Thin"/>
                <a:sym typeface="Raleway Thin"/>
              </a:endParaRPr>
            </a:p>
          </p:txBody>
        </p:sp>
      </p:grpSp>
      <p:grpSp>
        <p:nvGrpSpPr>
          <p:cNvPr id="426" name="Google Shape;426;p39"/>
          <p:cNvGrpSpPr/>
          <p:nvPr/>
        </p:nvGrpSpPr>
        <p:grpSpPr>
          <a:xfrm>
            <a:off x="6269459" y="1628976"/>
            <a:ext cx="2436016" cy="2853081"/>
            <a:chOff x="1118218" y="249674"/>
            <a:chExt cx="2048105" cy="2582675"/>
          </a:xfrm>
        </p:grpSpPr>
        <p:sp>
          <p:nvSpPr>
            <p:cNvPr id="427" name="Google Shape;427;p39"/>
            <p:cNvSpPr/>
            <p:nvPr/>
          </p:nvSpPr>
          <p:spPr>
            <a:xfrm>
              <a:off x="1118224" y="341749"/>
              <a:ext cx="2048100" cy="24906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428" name="Google Shape;428;p39"/>
            <p:cNvSpPr/>
            <p:nvPr/>
          </p:nvSpPr>
          <p:spPr>
            <a:xfrm>
              <a:off x="1524495" y="449118"/>
              <a:ext cx="1587000" cy="5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Competing Platforms Have Solved This</a:t>
              </a:r>
              <a:endParaRPr b="1" sz="1200">
                <a:latin typeface="Raleway"/>
                <a:ea typeface="Raleway"/>
                <a:cs typeface="Raleway"/>
                <a:sym typeface="Raleway"/>
              </a:endParaRPr>
            </a:p>
          </p:txBody>
        </p:sp>
        <p:sp>
          <p:nvSpPr>
            <p:cNvPr id="429" name="Google Shape;429;p39"/>
            <p:cNvSpPr/>
            <p:nvPr/>
          </p:nvSpPr>
          <p:spPr>
            <a:xfrm>
              <a:off x="1118218" y="1009230"/>
              <a:ext cx="2048100" cy="17823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aleway"/>
                <a:buChar char="●"/>
              </a:pPr>
              <a:r>
                <a:rPr b="1" lang="en" sz="1000">
                  <a:latin typeface="Raleway"/>
                  <a:ea typeface="Raleway"/>
                  <a:cs typeface="Raleway"/>
                  <a:sym typeface="Raleway"/>
                </a:rPr>
                <a:t>Major platforms offer one-click resume import</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Resume autofill is now a baseline expectation</a:t>
              </a:r>
              <a:endParaRPr b="1" sz="1000">
                <a:latin typeface="Raleway"/>
                <a:ea typeface="Raleway"/>
                <a:cs typeface="Raleway"/>
                <a:sym typeface="Raleway"/>
              </a:endParaRPr>
            </a:p>
            <a:p>
              <a:pPr indent="-292100" lvl="0" marL="457200" rtl="0" algn="l">
                <a:lnSpc>
                  <a:spcPct val="115000"/>
                </a:lnSpc>
                <a:spcBef>
                  <a:spcPts val="1000"/>
                </a:spcBef>
                <a:spcAft>
                  <a:spcPts val="0"/>
                </a:spcAft>
                <a:buSzPts val="1000"/>
                <a:buFont typeface="Raleway"/>
                <a:buChar char="●"/>
              </a:pPr>
              <a:r>
                <a:rPr b="1" lang="en" sz="1000">
                  <a:latin typeface="Raleway"/>
                  <a:ea typeface="Raleway"/>
                  <a:cs typeface="Raleway"/>
                  <a:sym typeface="Raleway"/>
                </a:rPr>
                <a:t>Autofill improves profile completion rates</a:t>
              </a:r>
              <a:endParaRPr b="1" sz="1000">
                <a:latin typeface="Raleway"/>
                <a:ea typeface="Raleway"/>
                <a:cs typeface="Raleway"/>
                <a:sym typeface="Raleway"/>
              </a:endParaRPr>
            </a:p>
            <a:p>
              <a:pPr indent="-292100" lvl="0" marL="457200" rtl="0" algn="l">
                <a:lnSpc>
                  <a:spcPct val="115000"/>
                </a:lnSpc>
                <a:spcBef>
                  <a:spcPts val="1000"/>
                </a:spcBef>
                <a:spcAft>
                  <a:spcPts val="1000"/>
                </a:spcAft>
                <a:buSzPts val="1000"/>
                <a:buFont typeface="Raleway"/>
                <a:buChar char="●"/>
              </a:pPr>
              <a:r>
                <a:rPr b="1" lang="en" sz="1000">
                  <a:latin typeface="Raleway"/>
                  <a:ea typeface="Raleway"/>
                  <a:cs typeface="Raleway"/>
                  <a:sym typeface="Raleway"/>
                </a:rPr>
                <a:t>Baysten is behind competitors without it</a:t>
              </a:r>
              <a:endParaRPr b="1" sz="1000">
                <a:latin typeface="Raleway"/>
                <a:ea typeface="Raleway"/>
                <a:cs typeface="Raleway"/>
                <a:sym typeface="Raleway"/>
              </a:endParaRPr>
            </a:p>
          </p:txBody>
        </p:sp>
        <p:sp>
          <p:nvSpPr>
            <p:cNvPr id="430" name="Google Shape;430;p39"/>
            <p:cNvSpPr/>
            <p:nvPr/>
          </p:nvSpPr>
          <p:spPr>
            <a:xfrm>
              <a:off x="1170132" y="249674"/>
              <a:ext cx="389400" cy="6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chemeClr val="accent1"/>
                  </a:solidFill>
                  <a:latin typeface="Raleway"/>
                  <a:ea typeface="Raleway"/>
                  <a:cs typeface="Raleway"/>
                  <a:sym typeface="Raleway"/>
                </a:rPr>
                <a:t>3</a:t>
              </a:r>
              <a:endParaRPr sz="4000">
                <a:solidFill>
                  <a:schemeClr val="accent1"/>
                </a:solidFill>
                <a:latin typeface="Raleway Thin"/>
                <a:ea typeface="Raleway Thin"/>
                <a:cs typeface="Raleway Thin"/>
                <a:sym typeface="Raleway Thin"/>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ph type="title"/>
          </p:nvPr>
        </p:nvSpPr>
        <p:spPr>
          <a:xfrm>
            <a:off x="654250" y="574475"/>
            <a:ext cx="7259700" cy="750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Project Methodology: 3 Phases</a:t>
            </a:r>
            <a:endParaRPr sz="2600"/>
          </a:p>
        </p:txBody>
      </p:sp>
      <p:grpSp>
        <p:nvGrpSpPr>
          <p:cNvPr id="436" name="Google Shape;436;p40"/>
          <p:cNvGrpSpPr/>
          <p:nvPr/>
        </p:nvGrpSpPr>
        <p:grpSpPr>
          <a:xfrm>
            <a:off x="805394" y="2474577"/>
            <a:ext cx="7428403" cy="802316"/>
            <a:chOff x="1593000" y="2322568"/>
            <a:chExt cx="5957975" cy="643500"/>
          </a:xfrm>
        </p:grpSpPr>
        <p:sp>
          <p:nvSpPr>
            <p:cNvPr id="437" name="Google Shape;437;p40"/>
            <p:cNvSpPr/>
            <p:nvPr/>
          </p:nvSpPr>
          <p:spPr>
            <a:xfrm>
              <a:off x="3728375" y="2322568"/>
              <a:ext cx="3822600" cy="643500"/>
            </a:xfrm>
            <a:prstGeom prst="rect">
              <a:avLst/>
            </a:prstGeom>
            <a:solidFill>
              <a:srgbClr val="EEEEEE"/>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38" name="Google Shape;438;p40"/>
            <p:cNvSpPr/>
            <p:nvPr/>
          </p:nvSpPr>
          <p:spPr>
            <a:xfrm flipH="1">
              <a:off x="2283025" y="2322575"/>
              <a:ext cx="1844400" cy="642600"/>
            </a:xfrm>
            <a:prstGeom prst="rect">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39" name="Google Shape;439;p40"/>
            <p:cNvSpPr/>
            <p:nvPr/>
          </p:nvSpPr>
          <p:spPr>
            <a:xfrm rot="-5400000">
              <a:off x="3501574" y="1934671"/>
              <a:ext cx="643356" cy="1419149"/>
            </a:xfrm>
            <a:prstGeom prst="flowChartOffpageConnector">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40" name="Google Shape;440;p40"/>
            <p:cNvSpPr/>
            <p:nvPr/>
          </p:nvSpPr>
          <p:spPr>
            <a:xfrm>
              <a:off x="2342625" y="2399951"/>
              <a:ext cx="1940700" cy="4959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lang="en" sz="1247">
                  <a:solidFill>
                    <a:srgbClr val="FFFFFF"/>
                  </a:solidFill>
                  <a:latin typeface="Raleway Medium"/>
                  <a:ea typeface="Raleway Medium"/>
                  <a:cs typeface="Raleway Medium"/>
                  <a:sym typeface="Raleway Medium"/>
                </a:rPr>
                <a:t>Solution Design, </a:t>
              </a:r>
              <a:r>
                <a:rPr lang="en" sz="1247">
                  <a:solidFill>
                    <a:srgbClr val="FFFFFF"/>
                  </a:solidFill>
                  <a:latin typeface="Raleway Medium"/>
                  <a:ea typeface="Raleway Medium"/>
                  <a:cs typeface="Raleway Medium"/>
                  <a:sym typeface="Raleway Medium"/>
                </a:rPr>
                <a:t>Proof of Concept, and Testing</a:t>
              </a:r>
              <a:endParaRPr sz="1247">
                <a:solidFill>
                  <a:srgbClr val="FFFFFF"/>
                </a:solidFill>
                <a:latin typeface="Raleway"/>
                <a:ea typeface="Raleway"/>
                <a:cs typeface="Raleway"/>
                <a:sym typeface="Raleway"/>
              </a:endParaRPr>
            </a:p>
          </p:txBody>
        </p:sp>
        <p:sp>
          <p:nvSpPr>
            <p:cNvPr id="441" name="Google Shape;441;p40"/>
            <p:cNvSpPr/>
            <p:nvPr/>
          </p:nvSpPr>
          <p:spPr>
            <a:xfrm>
              <a:off x="1593000" y="2322568"/>
              <a:ext cx="690000" cy="642300"/>
            </a:xfrm>
            <a:prstGeom prst="rect">
              <a:avLst/>
            </a:prstGeom>
            <a:solidFill>
              <a:srgbClr val="B02B20"/>
            </a:solidFill>
            <a:ln>
              <a:noFill/>
            </a:ln>
            <a:effectLst>
              <a:outerShdw blurRad="89073" rotWithShape="0" algn="bl" dir="2700000" dist="35629">
                <a:srgbClr val="000000">
                  <a:alpha val="17000"/>
                </a:srgbClr>
              </a:outerShdw>
            </a:effectLst>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42" name="Google Shape;442;p40"/>
            <p:cNvSpPr/>
            <p:nvPr/>
          </p:nvSpPr>
          <p:spPr>
            <a:xfrm>
              <a:off x="1593000" y="2322575"/>
              <a:ext cx="690000" cy="642600"/>
            </a:xfrm>
            <a:prstGeom prst="rect">
              <a:avLst/>
            </a:prstGeom>
            <a:solidFill>
              <a:srgbClr val="0E1D35"/>
            </a:solidFill>
            <a:ln>
              <a:noFill/>
            </a:ln>
          </p:spPr>
          <p:txBody>
            <a:bodyPr anchorCtr="0" anchor="ctr" bIns="113975" lIns="113975" spcFirstLastPara="1" rIns="113975" wrap="square" tIns="113975">
              <a:noAutofit/>
            </a:bodyPr>
            <a:lstStyle/>
            <a:p>
              <a:pPr indent="0" lvl="0" marL="0" rtl="0" algn="ctr">
                <a:spcBef>
                  <a:spcPts val="0"/>
                </a:spcBef>
                <a:spcAft>
                  <a:spcPts val="0"/>
                </a:spcAft>
                <a:buNone/>
              </a:pPr>
              <a:r>
                <a:rPr lang="en" sz="3242">
                  <a:solidFill>
                    <a:srgbClr val="FFFFFF"/>
                  </a:solidFill>
                  <a:latin typeface="Raleway Thin"/>
                  <a:ea typeface="Raleway Thin"/>
                  <a:cs typeface="Raleway Thin"/>
                  <a:sym typeface="Raleway Thin"/>
                </a:rPr>
                <a:t>02</a:t>
              </a:r>
              <a:endParaRPr sz="3242">
                <a:solidFill>
                  <a:srgbClr val="FFFFFF"/>
                </a:solidFill>
                <a:latin typeface="Raleway Thin"/>
                <a:ea typeface="Raleway Thin"/>
                <a:cs typeface="Raleway Thin"/>
                <a:sym typeface="Raleway Thin"/>
              </a:endParaRPr>
            </a:p>
          </p:txBody>
        </p:sp>
        <p:sp>
          <p:nvSpPr>
            <p:cNvPr id="443" name="Google Shape;443;p40"/>
            <p:cNvSpPr/>
            <p:nvPr/>
          </p:nvSpPr>
          <p:spPr>
            <a:xfrm>
              <a:off x="4707263" y="2323739"/>
              <a:ext cx="2843700" cy="6423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b="1" lang="en" sz="1122">
                  <a:latin typeface="Raleway"/>
                  <a:ea typeface="Raleway"/>
                  <a:cs typeface="Raleway"/>
                  <a:sym typeface="Raleway"/>
                </a:rPr>
                <a:t>Developed LLM-based resume parser and validated through alpha and accuracy testing</a:t>
              </a:r>
              <a:endParaRPr b="1" sz="1122">
                <a:solidFill>
                  <a:srgbClr val="A7291E"/>
                </a:solidFill>
                <a:latin typeface="Raleway"/>
                <a:ea typeface="Raleway"/>
                <a:cs typeface="Raleway"/>
                <a:sym typeface="Raleway"/>
              </a:endParaRPr>
            </a:p>
          </p:txBody>
        </p:sp>
      </p:grpSp>
      <p:grpSp>
        <p:nvGrpSpPr>
          <p:cNvPr id="444" name="Google Shape;444;p40"/>
          <p:cNvGrpSpPr/>
          <p:nvPr/>
        </p:nvGrpSpPr>
        <p:grpSpPr>
          <a:xfrm>
            <a:off x="805394" y="1657727"/>
            <a:ext cx="7428403" cy="802316"/>
            <a:chOff x="1593000" y="2322568"/>
            <a:chExt cx="5957975" cy="643500"/>
          </a:xfrm>
        </p:grpSpPr>
        <p:sp>
          <p:nvSpPr>
            <p:cNvPr id="445" name="Google Shape;445;p40"/>
            <p:cNvSpPr/>
            <p:nvPr/>
          </p:nvSpPr>
          <p:spPr>
            <a:xfrm>
              <a:off x="3728375" y="2322568"/>
              <a:ext cx="3822600" cy="643500"/>
            </a:xfrm>
            <a:prstGeom prst="rect">
              <a:avLst/>
            </a:prstGeom>
            <a:solidFill>
              <a:srgbClr val="EEEEEE"/>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46" name="Google Shape;446;p40"/>
            <p:cNvSpPr/>
            <p:nvPr/>
          </p:nvSpPr>
          <p:spPr>
            <a:xfrm flipH="1">
              <a:off x="2283025" y="2322575"/>
              <a:ext cx="1844400" cy="642600"/>
            </a:xfrm>
            <a:prstGeom prst="rect">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47" name="Google Shape;447;p40"/>
            <p:cNvSpPr/>
            <p:nvPr/>
          </p:nvSpPr>
          <p:spPr>
            <a:xfrm rot="-5400000">
              <a:off x="3501574" y="1934671"/>
              <a:ext cx="643356" cy="1419149"/>
            </a:xfrm>
            <a:prstGeom prst="flowChartOffpageConnector">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48" name="Google Shape;448;p40"/>
            <p:cNvSpPr/>
            <p:nvPr/>
          </p:nvSpPr>
          <p:spPr>
            <a:xfrm>
              <a:off x="2342625" y="2399951"/>
              <a:ext cx="1940700" cy="4959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lang="en" sz="1247">
                  <a:solidFill>
                    <a:srgbClr val="FFFFFF"/>
                  </a:solidFill>
                  <a:latin typeface="Raleway Medium"/>
                  <a:ea typeface="Raleway Medium"/>
                  <a:cs typeface="Raleway Medium"/>
                  <a:sym typeface="Raleway Medium"/>
                </a:rPr>
                <a:t>Research &amp; Diagnosis</a:t>
              </a:r>
              <a:endParaRPr sz="1247">
                <a:solidFill>
                  <a:srgbClr val="FFFFFF"/>
                </a:solidFill>
                <a:latin typeface="Raleway"/>
                <a:ea typeface="Raleway"/>
                <a:cs typeface="Raleway"/>
                <a:sym typeface="Raleway"/>
              </a:endParaRPr>
            </a:p>
          </p:txBody>
        </p:sp>
        <p:sp>
          <p:nvSpPr>
            <p:cNvPr id="449" name="Google Shape;449;p40"/>
            <p:cNvSpPr/>
            <p:nvPr/>
          </p:nvSpPr>
          <p:spPr>
            <a:xfrm>
              <a:off x="1593000" y="2322568"/>
              <a:ext cx="690000" cy="642300"/>
            </a:xfrm>
            <a:prstGeom prst="rect">
              <a:avLst/>
            </a:prstGeom>
            <a:solidFill>
              <a:srgbClr val="B02B20"/>
            </a:solidFill>
            <a:ln>
              <a:noFill/>
            </a:ln>
            <a:effectLst>
              <a:outerShdw blurRad="89073" rotWithShape="0" algn="bl" dir="2700000" dist="35629">
                <a:srgbClr val="000000">
                  <a:alpha val="17000"/>
                </a:srgbClr>
              </a:outerShdw>
            </a:effectLst>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50" name="Google Shape;450;p40"/>
            <p:cNvSpPr/>
            <p:nvPr/>
          </p:nvSpPr>
          <p:spPr>
            <a:xfrm>
              <a:off x="1593000" y="2322575"/>
              <a:ext cx="690000" cy="642600"/>
            </a:xfrm>
            <a:prstGeom prst="rect">
              <a:avLst/>
            </a:prstGeom>
            <a:solidFill>
              <a:srgbClr val="0E1D35"/>
            </a:solidFill>
            <a:ln>
              <a:noFill/>
            </a:ln>
          </p:spPr>
          <p:txBody>
            <a:bodyPr anchorCtr="0" anchor="ctr" bIns="113975" lIns="113975" spcFirstLastPara="1" rIns="113975" wrap="square" tIns="113975">
              <a:noAutofit/>
            </a:bodyPr>
            <a:lstStyle/>
            <a:p>
              <a:pPr indent="0" lvl="0" marL="0" rtl="0" algn="ctr">
                <a:spcBef>
                  <a:spcPts val="0"/>
                </a:spcBef>
                <a:spcAft>
                  <a:spcPts val="0"/>
                </a:spcAft>
                <a:buNone/>
              </a:pPr>
              <a:r>
                <a:rPr lang="en" sz="3242">
                  <a:solidFill>
                    <a:srgbClr val="FFFFFF"/>
                  </a:solidFill>
                  <a:latin typeface="Raleway Thin"/>
                  <a:ea typeface="Raleway Thin"/>
                  <a:cs typeface="Raleway Thin"/>
                  <a:sym typeface="Raleway Thin"/>
                </a:rPr>
                <a:t>01</a:t>
              </a:r>
              <a:endParaRPr sz="3242">
                <a:solidFill>
                  <a:srgbClr val="FFFFFF"/>
                </a:solidFill>
                <a:latin typeface="Raleway Thin"/>
                <a:ea typeface="Raleway Thin"/>
                <a:cs typeface="Raleway Thin"/>
                <a:sym typeface="Raleway Thin"/>
              </a:endParaRPr>
            </a:p>
          </p:txBody>
        </p:sp>
        <p:sp>
          <p:nvSpPr>
            <p:cNvPr id="451" name="Google Shape;451;p40"/>
            <p:cNvSpPr/>
            <p:nvPr/>
          </p:nvSpPr>
          <p:spPr>
            <a:xfrm>
              <a:off x="4698838" y="2323757"/>
              <a:ext cx="2852100" cy="6423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b="1" lang="en" sz="1122">
                  <a:latin typeface="Raleway"/>
                  <a:ea typeface="Raleway"/>
                  <a:cs typeface="Raleway"/>
                  <a:sym typeface="Raleway"/>
                </a:rPr>
                <a:t>Conducted user interviews, identified drop-off points, and analyzed field-level friction drivers</a:t>
              </a:r>
              <a:endParaRPr b="1" sz="997">
                <a:solidFill>
                  <a:srgbClr val="A7291E"/>
                </a:solidFill>
                <a:latin typeface="Raleway"/>
                <a:ea typeface="Raleway"/>
                <a:cs typeface="Raleway"/>
                <a:sym typeface="Raleway"/>
              </a:endParaRPr>
            </a:p>
          </p:txBody>
        </p:sp>
      </p:grpSp>
      <p:grpSp>
        <p:nvGrpSpPr>
          <p:cNvPr id="452" name="Google Shape;452;p40"/>
          <p:cNvGrpSpPr/>
          <p:nvPr/>
        </p:nvGrpSpPr>
        <p:grpSpPr>
          <a:xfrm>
            <a:off x="805394" y="3291436"/>
            <a:ext cx="7428403" cy="802316"/>
            <a:chOff x="1593000" y="2322568"/>
            <a:chExt cx="5957975" cy="643500"/>
          </a:xfrm>
        </p:grpSpPr>
        <p:sp>
          <p:nvSpPr>
            <p:cNvPr id="453" name="Google Shape;453;p40"/>
            <p:cNvSpPr/>
            <p:nvPr/>
          </p:nvSpPr>
          <p:spPr>
            <a:xfrm>
              <a:off x="3728375" y="2322568"/>
              <a:ext cx="3822600" cy="643500"/>
            </a:xfrm>
            <a:prstGeom prst="rect">
              <a:avLst/>
            </a:prstGeom>
            <a:solidFill>
              <a:srgbClr val="EEEEEE"/>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54" name="Google Shape;454;p40"/>
            <p:cNvSpPr/>
            <p:nvPr/>
          </p:nvSpPr>
          <p:spPr>
            <a:xfrm flipH="1">
              <a:off x="2283025" y="2322575"/>
              <a:ext cx="1844400" cy="642600"/>
            </a:xfrm>
            <a:prstGeom prst="rect">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55" name="Google Shape;455;p40"/>
            <p:cNvSpPr/>
            <p:nvPr/>
          </p:nvSpPr>
          <p:spPr>
            <a:xfrm rot="-5400000">
              <a:off x="3501574" y="1934671"/>
              <a:ext cx="643356" cy="1419149"/>
            </a:xfrm>
            <a:prstGeom prst="flowChartOffpageConnector">
              <a:avLst/>
            </a:prstGeom>
            <a:solidFill>
              <a:schemeClr val="accent1"/>
            </a:solidFill>
            <a:ln>
              <a:noFill/>
            </a:ln>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56" name="Google Shape;456;p40"/>
            <p:cNvSpPr/>
            <p:nvPr/>
          </p:nvSpPr>
          <p:spPr>
            <a:xfrm>
              <a:off x="2342625" y="2399951"/>
              <a:ext cx="1940700" cy="4959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lang="en" sz="1247">
                  <a:solidFill>
                    <a:srgbClr val="FFFFFF"/>
                  </a:solidFill>
                  <a:latin typeface="Raleway Medium"/>
                  <a:ea typeface="Raleway Medium"/>
                  <a:cs typeface="Raleway Medium"/>
                  <a:sym typeface="Raleway Medium"/>
                </a:rPr>
                <a:t>Final Deliverables</a:t>
              </a:r>
              <a:endParaRPr sz="1247">
                <a:solidFill>
                  <a:srgbClr val="FFFFFF"/>
                </a:solidFill>
                <a:latin typeface="Raleway"/>
                <a:ea typeface="Raleway"/>
                <a:cs typeface="Raleway"/>
                <a:sym typeface="Raleway"/>
              </a:endParaRPr>
            </a:p>
          </p:txBody>
        </p:sp>
        <p:sp>
          <p:nvSpPr>
            <p:cNvPr id="457" name="Google Shape;457;p40"/>
            <p:cNvSpPr/>
            <p:nvPr/>
          </p:nvSpPr>
          <p:spPr>
            <a:xfrm>
              <a:off x="1593000" y="2322568"/>
              <a:ext cx="690000" cy="642300"/>
            </a:xfrm>
            <a:prstGeom prst="rect">
              <a:avLst/>
            </a:prstGeom>
            <a:solidFill>
              <a:srgbClr val="B02B20"/>
            </a:solidFill>
            <a:ln>
              <a:noFill/>
            </a:ln>
            <a:effectLst>
              <a:outerShdw blurRad="89073" rotWithShape="0" algn="bl" dir="2700000" dist="35629">
                <a:srgbClr val="000000">
                  <a:alpha val="17000"/>
                </a:srgbClr>
              </a:outerShdw>
            </a:effectLst>
          </p:spPr>
          <p:txBody>
            <a:bodyPr anchorCtr="0" anchor="ctr" bIns="113975" lIns="113975" spcFirstLastPara="1" rIns="113975" wrap="square" tIns="113975">
              <a:noAutofit/>
            </a:bodyPr>
            <a:lstStyle/>
            <a:p>
              <a:pPr indent="0" lvl="0" marL="0" rtl="0" algn="l">
                <a:spcBef>
                  <a:spcPts val="0"/>
                </a:spcBef>
                <a:spcAft>
                  <a:spcPts val="0"/>
                </a:spcAft>
                <a:buNone/>
              </a:pPr>
              <a:r>
                <a:t/>
              </a:r>
              <a:endParaRPr sz="1746">
                <a:latin typeface="Raleway"/>
                <a:ea typeface="Raleway"/>
                <a:cs typeface="Raleway"/>
                <a:sym typeface="Raleway"/>
              </a:endParaRPr>
            </a:p>
          </p:txBody>
        </p:sp>
        <p:sp>
          <p:nvSpPr>
            <p:cNvPr id="458" name="Google Shape;458;p40"/>
            <p:cNvSpPr/>
            <p:nvPr/>
          </p:nvSpPr>
          <p:spPr>
            <a:xfrm>
              <a:off x="1593000" y="2322575"/>
              <a:ext cx="690000" cy="642600"/>
            </a:xfrm>
            <a:prstGeom prst="rect">
              <a:avLst/>
            </a:prstGeom>
            <a:solidFill>
              <a:srgbClr val="0E1D35"/>
            </a:solidFill>
            <a:ln>
              <a:noFill/>
            </a:ln>
          </p:spPr>
          <p:txBody>
            <a:bodyPr anchorCtr="0" anchor="ctr" bIns="113975" lIns="113975" spcFirstLastPara="1" rIns="113975" wrap="square" tIns="113975">
              <a:noAutofit/>
            </a:bodyPr>
            <a:lstStyle/>
            <a:p>
              <a:pPr indent="0" lvl="0" marL="0" rtl="0" algn="ctr">
                <a:spcBef>
                  <a:spcPts val="0"/>
                </a:spcBef>
                <a:spcAft>
                  <a:spcPts val="0"/>
                </a:spcAft>
                <a:buNone/>
              </a:pPr>
              <a:r>
                <a:rPr lang="en" sz="3242">
                  <a:solidFill>
                    <a:srgbClr val="FFFFFF"/>
                  </a:solidFill>
                  <a:latin typeface="Raleway Thin"/>
                  <a:ea typeface="Raleway Thin"/>
                  <a:cs typeface="Raleway Thin"/>
                  <a:sym typeface="Raleway Thin"/>
                </a:rPr>
                <a:t>03</a:t>
              </a:r>
              <a:endParaRPr sz="3242">
                <a:solidFill>
                  <a:srgbClr val="FFFFFF"/>
                </a:solidFill>
                <a:latin typeface="Raleway Thin"/>
                <a:ea typeface="Raleway Thin"/>
                <a:cs typeface="Raleway Thin"/>
                <a:sym typeface="Raleway Thin"/>
              </a:endParaRPr>
            </a:p>
          </p:txBody>
        </p:sp>
        <p:sp>
          <p:nvSpPr>
            <p:cNvPr id="459" name="Google Shape;459;p40"/>
            <p:cNvSpPr/>
            <p:nvPr/>
          </p:nvSpPr>
          <p:spPr>
            <a:xfrm>
              <a:off x="4698838" y="2323739"/>
              <a:ext cx="2852100" cy="642300"/>
            </a:xfrm>
            <a:prstGeom prst="rect">
              <a:avLst/>
            </a:prstGeom>
            <a:noFill/>
            <a:ln>
              <a:noFill/>
            </a:ln>
          </p:spPr>
          <p:txBody>
            <a:bodyPr anchorCtr="0" anchor="ctr" bIns="113975" lIns="113975" spcFirstLastPara="1" rIns="113975" wrap="square" tIns="113975">
              <a:noAutofit/>
            </a:bodyPr>
            <a:lstStyle/>
            <a:p>
              <a:pPr indent="0" lvl="0" marL="0" rtl="0" algn="l">
                <a:lnSpc>
                  <a:spcPct val="115000"/>
                </a:lnSpc>
                <a:spcBef>
                  <a:spcPts val="0"/>
                </a:spcBef>
                <a:spcAft>
                  <a:spcPts val="0"/>
                </a:spcAft>
                <a:buNone/>
              </a:pPr>
              <a:r>
                <a:rPr b="1" lang="en" sz="1122">
                  <a:latin typeface="Raleway"/>
                  <a:ea typeface="Raleway"/>
                  <a:cs typeface="Raleway"/>
                  <a:sym typeface="Raleway"/>
                </a:rPr>
                <a:t>Transferred production-ready code and delivered final report and presentation</a:t>
              </a:r>
              <a:endParaRPr b="1" sz="1122">
                <a:solidFill>
                  <a:srgbClr val="A7291E"/>
                </a:solidFill>
                <a:latin typeface="Raleway"/>
                <a:ea typeface="Raleway"/>
                <a:cs typeface="Raleway"/>
                <a:sym typeface="Ralewa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1"/>
          <p:cNvSpPr txBox="1"/>
          <p:nvPr>
            <p:ph type="title"/>
          </p:nvPr>
        </p:nvSpPr>
        <p:spPr>
          <a:xfrm>
            <a:off x="4906325" y="2018175"/>
            <a:ext cx="3585600" cy="7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Solution</a:t>
            </a:r>
            <a:endParaRPr/>
          </a:p>
        </p:txBody>
      </p:sp>
      <p:sp>
        <p:nvSpPr>
          <p:cNvPr id="465" name="Google Shape;465;p41"/>
          <p:cNvSpPr txBox="1"/>
          <p:nvPr>
            <p:ph idx="2" type="title"/>
          </p:nvPr>
        </p:nvSpPr>
        <p:spPr>
          <a:xfrm>
            <a:off x="4963434" y="924863"/>
            <a:ext cx="9540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pic>
        <p:nvPicPr>
          <p:cNvPr descr="People are filling out their personal resume on the tablet for online job applications. (Provided by Getty Images)" id="466" name="Google Shape;466;p41"/>
          <p:cNvPicPr preferRelativeResize="0"/>
          <p:nvPr>
            <p:ph idx="3" type="pic"/>
          </p:nvPr>
        </p:nvPicPr>
        <p:blipFill rotWithShape="1">
          <a:blip r:embed="rId3">
            <a:alphaModFix/>
          </a:blip>
          <a:srcRect b="0" l="27332" r="27332" t="0"/>
          <a:stretch/>
        </p:blipFill>
        <p:spPr>
          <a:xfrm>
            <a:off x="1322338" y="539500"/>
            <a:ext cx="2760602" cy="4064501"/>
          </a:xfrm>
          <a:prstGeom prst="rect">
            <a:avLst/>
          </a:prstGeom>
        </p:spPr>
      </p:pic>
      <p:sp>
        <p:nvSpPr>
          <p:cNvPr id="467" name="Google Shape;467;p41"/>
          <p:cNvSpPr/>
          <p:nvPr/>
        </p:nvSpPr>
        <p:spPr>
          <a:xfrm>
            <a:off x="4963433" y="4179925"/>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8" name="Google Shape;468;p41"/>
          <p:cNvSpPr txBox="1"/>
          <p:nvPr>
            <p:ph idx="4294967295" type="subTitle"/>
          </p:nvPr>
        </p:nvSpPr>
        <p:spPr>
          <a:xfrm>
            <a:off x="4906325" y="2794875"/>
            <a:ext cx="3513900" cy="10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An LLM-powered resume parser built and tested for Baysten</a:t>
            </a:r>
            <a:endParaRPr b="1" sz="1800">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2"/>
          <p:cNvSpPr txBox="1"/>
          <p:nvPr>
            <p:ph type="title"/>
          </p:nvPr>
        </p:nvSpPr>
        <p:spPr>
          <a:xfrm>
            <a:off x="654250" y="665125"/>
            <a:ext cx="7259700" cy="7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We Built and Tested a Three-Part Solution</a:t>
            </a:r>
            <a:endParaRPr sz="2600"/>
          </a:p>
        </p:txBody>
      </p:sp>
      <p:grpSp>
        <p:nvGrpSpPr>
          <p:cNvPr id="474" name="Google Shape;474;p42"/>
          <p:cNvGrpSpPr/>
          <p:nvPr/>
        </p:nvGrpSpPr>
        <p:grpSpPr>
          <a:xfrm>
            <a:off x="340363" y="1926126"/>
            <a:ext cx="2947876" cy="1900334"/>
            <a:chOff x="66541" y="1867596"/>
            <a:chExt cx="3209096" cy="2105400"/>
          </a:xfrm>
        </p:grpSpPr>
        <p:sp>
          <p:nvSpPr>
            <p:cNvPr id="475" name="Google Shape;475;p42"/>
            <p:cNvSpPr txBox="1"/>
            <p:nvPr/>
          </p:nvSpPr>
          <p:spPr>
            <a:xfrm>
              <a:off x="66541" y="1867596"/>
              <a:ext cx="2383500" cy="2105400"/>
            </a:xfrm>
            <a:prstGeom prst="rect">
              <a:avLst/>
            </a:prstGeom>
            <a:noFill/>
            <a:ln>
              <a:noFill/>
            </a:ln>
          </p:spPr>
          <p:txBody>
            <a:bodyPr anchorCtr="0" anchor="ctr" bIns="82525" lIns="82525" spcFirstLastPara="1" rIns="82525" wrap="square" tIns="82525">
              <a:noAutofit/>
            </a:bodyPr>
            <a:lstStyle/>
            <a:p>
              <a:pPr indent="0" lvl="0" marL="0" rtl="0" algn="r">
                <a:spcBef>
                  <a:spcPts val="0"/>
                </a:spcBef>
                <a:spcAft>
                  <a:spcPts val="0"/>
                </a:spcAft>
                <a:buNone/>
              </a:pPr>
              <a:r>
                <a:rPr b="1" lang="en" sz="1383">
                  <a:latin typeface="Raleway"/>
                  <a:ea typeface="Raleway"/>
                  <a:cs typeface="Raleway"/>
                  <a:sym typeface="Raleway"/>
                </a:rPr>
                <a:t>LLM Resume Parser</a:t>
              </a:r>
              <a:endParaRPr b="1" sz="1383">
                <a:latin typeface="Raleway"/>
                <a:ea typeface="Raleway"/>
                <a:cs typeface="Raleway"/>
                <a:sym typeface="Raleway"/>
              </a:endParaRPr>
            </a:p>
            <a:p>
              <a:pPr indent="0" lvl="0" marL="0" rtl="0" algn="r">
                <a:spcBef>
                  <a:spcPts val="0"/>
                </a:spcBef>
                <a:spcAft>
                  <a:spcPts val="0"/>
                </a:spcAft>
                <a:buNone/>
              </a:pPr>
              <a:r>
                <a:t/>
              </a:r>
              <a:endParaRPr b="1" sz="722">
                <a:latin typeface="Raleway"/>
                <a:ea typeface="Raleway"/>
                <a:cs typeface="Raleway"/>
                <a:sym typeface="Raleway"/>
              </a:endParaRPr>
            </a:p>
            <a:p>
              <a:pPr indent="0" lvl="0" marL="0" rtl="0" algn="r">
                <a:spcBef>
                  <a:spcPts val="0"/>
                </a:spcBef>
                <a:spcAft>
                  <a:spcPts val="1444"/>
                </a:spcAft>
                <a:buNone/>
              </a:pPr>
              <a:r>
                <a:rPr lang="en" sz="1122">
                  <a:latin typeface="Raleway"/>
                  <a:ea typeface="Raleway"/>
                  <a:cs typeface="Raleway"/>
                  <a:sym typeface="Raleway"/>
                </a:rPr>
                <a:t>Accepts PDF/DOCX/TXT uploads. Claude extracts structured fields across formats via secure backend.</a:t>
              </a:r>
              <a:endParaRPr sz="1122">
                <a:latin typeface="Raleway"/>
                <a:ea typeface="Raleway"/>
                <a:cs typeface="Raleway"/>
                <a:sym typeface="Raleway"/>
              </a:endParaRPr>
            </a:p>
          </p:txBody>
        </p:sp>
        <p:cxnSp>
          <p:nvCxnSpPr>
            <p:cNvPr id="476" name="Google Shape;476;p42"/>
            <p:cNvCxnSpPr/>
            <p:nvPr/>
          </p:nvCxnSpPr>
          <p:spPr>
            <a:xfrm rot="10800000">
              <a:off x="2642038" y="2647950"/>
              <a:ext cx="633600" cy="0"/>
            </a:xfrm>
            <a:prstGeom prst="straightConnector1">
              <a:avLst/>
            </a:prstGeom>
            <a:noFill/>
            <a:ln cap="flat" cmpd="sng" w="9525">
              <a:solidFill>
                <a:schemeClr val="lt2"/>
              </a:solidFill>
              <a:prstDash val="solid"/>
              <a:round/>
              <a:headEnd len="sm" w="sm" type="none"/>
              <a:tailEnd len="med" w="med" type="oval"/>
            </a:ln>
          </p:spPr>
        </p:cxnSp>
      </p:grpSp>
      <p:grpSp>
        <p:nvGrpSpPr>
          <p:cNvPr id="477" name="Google Shape;477;p42"/>
          <p:cNvGrpSpPr/>
          <p:nvPr/>
        </p:nvGrpSpPr>
        <p:grpSpPr>
          <a:xfrm>
            <a:off x="5014732" y="2050000"/>
            <a:ext cx="3788895" cy="729211"/>
            <a:chOff x="5209838" y="1542148"/>
            <a:chExt cx="4197756" cy="807900"/>
          </a:xfrm>
        </p:grpSpPr>
        <p:sp>
          <p:nvSpPr>
            <p:cNvPr id="478" name="Google Shape;478;p42"/>
            <p:cNvSpPr txBox="1"/>
            <p:nvPr/>
          </p:nvSpPr>
          <p:spPr>
            <a:xfrm>
              <a:off x="6696494" y="1542148"/>
              <a:ext cx="2711100" cy="807900"/>
            </a:xfrm>
            <a:prstGeom prst="rect">
              <a:avLst/>
            </a:prstGeom>
            <a:noFill/>
            <a:ln>
              <a:noFill/>
            </a:ln>
          </p:spPr>
          <p:txBody>
            <a:bodyPr anchorCtr="0" anchor="ctr" bIns="82525" lIns="82525" spcFirstLastPara="1" rIns="82525" wrap="square" tIns="82525">
              <a:noAutofit/>
            </a:bodyPr>
            <a:lstStyle/>
            <a:p>
              <a:pPr indent="0" lvl="0" marL="0" rtl="0" algn="l">
                <a:spcBef>
                  <a:spcPts val="0"/>
                </a:spcBef>
                <a:spcAft>
                  <a:spcPts val="0"/>
                </a:spcAft>
                <a:buNone/>
              </a:pPr>
              <a:r>
                <a:rPr b="1" lang="en" sz="1383">
                  <a:latin typeface="Raleway"/>
                  <a:ea typeface="Raleway"/>
                  <a:cs typeface="Raleway"/>
                  <a:sym typeface="Raleway"/>
                </a:rPr>
                <a:t>Rationalized Field Structure</a:t>
              </a:r>
              <a:endParaRPr b="1" sz="1383">
                <a:latin typeface="Raleway"/>
                <a:ea typeface="Raleway"/>
                <a:cs typeface="Raleway"/>
                <a:sym typeface="Raleway"/>
              </a:endParaRPr>
            </a:p>
            <a:p>
              <a:pPr indent="0" lvl="0" marL="0" rtl="0" algn="l">
                <a:spcBef>
                  <a:spcPts val="0"/>
                </a:spcBef>
                <a:spcAft>
                  <a:spcPts val="0"/>
                </a:spcAft>
                <a:buNone/>
              </a:pPr>
              <a:r>
                <a:t/>
              </a:r>
              <a:endParaRPr b="1" sz="1122">
                <a:latin typeface="Raleway"/>
                <a:ea typeface="Raleway"/>
                <a:cs typeface="Raleway"/>
                <a:sym typeface="Raleway"/>
              </a:endParaRPr>
            </a:p>
            <a:p>
              <a:pPr indent="0" lvl="0" marL="0" rtl="0" algn="l">
                <a:spcBef>
                  <a:spcPts val="0"/>
                </a:spcBef>
                <a:spcAft>
                  <a:spcPts val="1444"/>
                </a:spcAft>
                <a:buNone/>
              </a:pPr>
              <a:r>
                <a:rPr lang="en" sz="1122">
                  <a:latin typeface="Raleway"/>
                  <a:ea typeface="Raleway"/>
                  <a:cs typeface="Raleway"/>
                  <a:sym typeface="Raleway"/>
                </a:rPr>
                <a:t>Only email, password, and five skills required. All other fields optional to maximize completion.</a:t>
              </a:r>
              <a:endParaRPr b="1" sz="1122">
                <a:latin typeface="Raleway"/>
                <a:ea typeface="Raleway"/>
                <a:cs typeface="Raleway"/>
                <a:sym typeface="Raleway"/>
              </a:endParaRPr>
            </a:p>
          </p:txBody>
        </p:sp>
        <p:cxnSp>
          <p:nvCxnSpPr>
            <p:cNvPr id="479" name="Google Shape;479;p42"/>
            <p:cNvCxnSpPr/>
            <p:nvPr/>
          </p:nvCxnSpPr>
          <p:spPr>
            <a:xfrm>
              <a:off x="5209838" y="1705200"/>
              <a:ext cx="1286700" cy="0"/>
            </a:xfrm>
            <a:prstGeom prst="straightConnector1">
              <a:avLst/>
            </a:prstGeom>
            <a:noFill/>
            <a:ln cap="flat" cmpd="sng" w="9525">
              <a:solidFill>
                <a:schemeClr val="accent2"/>
              </a:solidFill>
              <a:prstDash val="solid"/>
              <a:round/>
              <a:headEnd len="sm" w="sm" type="none"/>
              <a:tailEnd len="med" w="med" type="oval"/>
            </a:ln>
          </p:spPr>
        </p:cxnSp>
      </p:grpSp>
      <p:grpSp>
        <p:nvGrpSpPr>
          <p:cNvPr id="480" name="Google Shape;480;p42"/>
          <p:cNvGrpSpPr/>
          <p:nvPr/>
        </p:nvGrpSpPr>
        <p:grpSpPr>
          <a:xfrm>
            <a:off x="4937465" y="3576850"/>
            <a:ext cx="3683142" cy="1352546"/>
            <a:chOff x="5209838" y="3020469"/>
            <a:chExt cx="3995164" cy="1498500"/>
          </a:xfrm>
        </p:grpSpPr>
        <p:sp>
          <p:nvSpPr>
            <p:cNvPr id="481" name="Google Shape;481;p42"/>
            <p:cNvSpPr txBox="1"/>
            <p:nvPr/>
          </p:nvSpPr>
          <p:spPr>
            <a:xfrm>
              <a:off x="6741102" y="3020469"/>
              <a:ext cx="2463900" cy="1498500"/>
            </a:xfrm>
            <a:prstGeom prst="rect">
              <a:avLst/>
            </a:prstGeom>
            <a:noFill/>
            <a:ln>
              <a:noFill/>
            </a:ln>
          </p:spPr>
          <p:txBody>
            <a:bodyPr anchorCtr="0" anchor="ctr" bIns="82525" lIns="82525" spcFirstLastPara="1" rIns="82525" wrap="square" tIns="82525">
              <a:noAutofit/>
            </a:bodyPr>
            <a:lstStyle/>
            <a:p>
              <a:pPr indent="0" lvl="0" marL="0" rtl="0" algn="l">
                <a:spcBef>
                  <a:spcPts val="0"/>
                </a:spcBef>
                <a:spcAft>
                  <a:spcPts val="0"/>
                </a:spcAft>
                <a:buNone/>
              </a:pPr>
              <a:r>
                <a:rPr b="1" lang="en" sz="1383">
                  <a:latin typeface="Raleway"/>
                  <a:ea typeface="Raleway"/>
                  <a:cs typeface="Raleway"/>
                  <a:sym typeface="Raleway"/>
                </a:rPr>
                <a:t>Redesigned Onboarding Flow</a:t>
              </a:r>
              <a:endParaRPr b="1" sz="1383">
                <a:latin typeface="Raleway"/>
                <a:ea typeface="Raleway"/>
                <a:cs typeface="Raleway"/>
                <a:sym typeface="Raleway"/>
              </a:endParaRPr>
            </a:p>
            <a:p>
              <a:pPr indent="0" lvl="0" marL="0" rtl="0" algn="l">
                <a:spcBef>
                  <a:spcPts val="0"/>
                </a:spcBef>
                <a:spcAft>
                  <a:spcPts val="0"/>
                </a:spcAft>
                <a:buNone/>
              </a:pPr>
              <a:r>
                <a:t/>
              </a:r>
              <a:endParaRPr b="1" sz="722">
                <a:latin typeface="Raleway"/>
                <a:ea typeface="Raleway"/>
                <a:cs typeface="Raleway"/>
                <a:sym typeface="Raleway"/>
              </a:endParaRPr>
            </a:p>
            <a:p>
              <a:pPr indent="0" lvl="0" marL="0" rtl="0" algn="l">
                <a:spcBef>
                  <a:spcPts val="0"/>
                </a:spcBef>
                <a:spcAft>
                  <a:spcPts val="1444"/>
                </a:spcAft>
                <a:buNone/>
              </a:pPr>
              <a:r>
                <a:rPr lang="en" sz="1122">
                  <a:latin typeface="Raleway"/>
                  <a:ea typeface="Raleway"/>
                  <a:cs typeface="Raleway"/>
                  <a:sym typeface="Raleway"/>
                </a:rPr>
                <a:t>Single-page onboarding with instant resume autofill and edit-based completion.</a:t>
              </a:r>
              <a:endParaRPr b="1" sz="1122">
                <a:latin typeface="Raleway"/>
                <a:ea typeface="Raleway"/>
                <a:cs typeface="Raleway"/>
                <a:sym typeface="Raleway"/>
              </a:endParaRPr>
            </a:p>
          </p:txBody>
        </p:sp>
        <p:cxnSp>
          <p:nvCxnSpPr>
            <p:cNvPr id="482" name="Google Shape;482;p42"/>
            <p:cNvCxnSpPr/>
            <p:nvPr/>
          </p:nvCxnSpPr>
          <p:spPr>
            <a:xfrm>
              <a:off x="5209838" y="3648300"/>
              <a:ext cx="1286700" cy="0"/>
            </a:xfrm>
            <a:prstGeom prst="straightConnector1">
              <a:avLst/>
            </a:prstGeom>
            <a:noFill/>
            <a:ln cap="flat" cmpd="sng" w="9525">
              <a:solidFill>
                <a:schemeClr val="accent1"/>
              </a:solidFill>
              <a:prstDash val="solid"/>
              <a:round/>
              <a:headEnd len="sm" w="sm" type="none"/>
              <a:tailEnd len="med" w="med" type="oval"/>
            </a:ln>
          </p:spPr>
        </p:cxnSp>
      </p:grpSp>
      <p:grpSp>
        <p:nvGrpSpPr>
          <p:cNvPr id="483" name="Google Shape;483;p42"/>
          <p:cNvGrpSpPr/>
          <p:nvPr/>
        </p:nvGrpSpPr>
        <p:grpSpPr>
          <a:xfrm>
            <a:off x="2715245" y="1315571"/>
            <a:ext cx="3443270" cy="3421393"/>
            <a:chOff x="2662213" y="676344"/>
            <a:chExt cx="3814835" cy="3790597"/>
          </a:xfrm>
        </p:grpSpPr>
        <p:sp>
          <p:nvSpPr>
            <p:cNvPr id="484" name="Google Shape;484;p42"/>
            <p:cNvSpPr/>
            <p:nvPr/>
          </p:nvSpPr>
          <p:spPr>
            <a:xfrm rot="3600185">
              <a:off x="3169983" y="1184511"/>
              <a:ext cx="2774659" cy="2774659"/>
            </a:xfrm>
            <a:prstGeom prst="blockArc">
              <a:avLst>
                <a:gd fmla="val 12622480" name="adj1"/>
                <a:gd fmla="val 19781569" name="adj2"/>
                <a:gd fmla="val 20773" name="adj3"/>
              </a:avLst>
            </a:prstGeom>
            <a:solidFill>
              <a:schemeClr val="accent2"/>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sp>
          <p:nvSpPr>
            <p:cNvPr id="485" name="Google Shape;485;p42"/>
            <p:cNvSpPr/>
            <p:nvPr/>
          </p:nvSpPr>
          <p:spPr>
            <a:xfrm rot="10800000">
              <a:off x="3183490" y="1163229"/>
              <a:ext cx="2774700" cy="2774700"/>
            </a:xfrm>
            <a:prstGeom prst="blockArc">
              <a:avLst>
                <a:gd fmla="val 12622480" name="adj1"/>
                <a:gd fmla="val 19662822" name="adj2"/>
                <a:gd fmla="val 20729" name="adj3"/>
              </a:avLst>
            </a:prstGeom>
            <a:solidFill>
              <a:schemeClr val="accent1"/>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sp>
          <p:nvSpPr>
            <p:cNvPr id="486" name="Google Shape;486;p42"/>
            <p:cNvSpPr/>
            <p:nvPr/>
          </p:nvSpPr>
          <p:spPr>
            <a:xfrm rot="-3600185">
              <a:off x="3194618" y="1184114"/>
              <a:ext cx="2774659" cy="2774659"/>
            </a:xfrm>
            <a:prstGeom prst="blockArc">
              <a:avLst>
                <a:gd fmla="val 12622480" name="adj1"/>
                <a:gd fmla="val 19703271" name="adj2"/>
                <a:gd fmla="val 20851" name="adj3"/>
              </a:avLst>
            </a:prstGeom>
            <a:solidFill>
              <a:schemeClr val="lt2"/>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grpSp>
          <p:nvGrpSpPr>
            <p:cNvPr id="487" name="Google Shape;487;p42"/>
            <p:cNvGrpSpPr/>
            <p:nvPr/>
          </p:nvGrpSpPr>
          <p:grpSpPr>
            <a:xfrm rot="-7200165">
              <a:off x="3337679" y="2826785"/>
              <a:ext cx="585011" cy="585536"/>
              <a:chOff x="1967628" y="812211"/>
              <a:chExt cx="588000" cy="588000"/>
            </a:xfrm>
          </p:grpSpPr>
          <p:sp>
            <p:nvSpPr>
              <p:cNvPr id="488" name="Google Shape;488;p42"/>
              <p:cNvSpPr/>
              <p:nvPr/>
            </p:nvSpPr>
            <p:spPr>
              <a:xfrm rot="39023">
                <a:off x="1970909" y="815492"/>
                <a:ext cx="581437" cy="581437"/>
              </a:xfrm>
              <a:prstGeom prst="pie">
                <a:avLst>
                  <a:gd fmla="val 6190354" name="adj1"/>
                  <a:gd fmla="val 14996165" name="adj2"/>
                </a:avLst>
              </a:prstGeom>
              <a:solidFill>
                <a:schemeClr val="lt2"/>
              </a:solidFill>
              <a:ln>
                <a:noFill/>
              </a:ln>
              <a:effectLst>
                <a:outerShdw blurRad="128965" rotWithShape="0" algn="bl">
                  <a:srgbClr val="000000">
                    <a:alpha val="43000"/>
                  </a:srgbClr>
                </a:outerShdw>
              </a:effectLst>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sp>
            <p:nvSpPr>
              <p:cNvPr id="489" name="Google Shape;489;p42"/>
              <p:cNvSpPr/>
              <p:nvPr/>
            </p:nvSpPr>
            <p:spPr>
              <a:xfrm rot="10800000">
                <a:off x="1970875" y="815525"/>
                <a:ext cx="581400" cy="581400"/>
              </a:xfrm>
              <a:prstGeom prst="pie">
                <a:avLst>
                  <a:gd fmla="val 4028252" name="adj1"/>
                  <a:gd fmla="val 17183677" name="adj2"/>
                </a:avLst>
              </a:prstGeom>
              <a:solidFill>
                <a:schemeClr val="lt2"/>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grpSp>
        <p:grpSp>
          <p:nvGrpSpPr>
            <p:cNvPr id="490" name="Google Shape;490;p42"/>
            <p:cNvGrpSpPr/>
            <p:nvPr/>
          </p:nvGrpSpPr>
          <p:grpSpPr>
            <a:xfrm>
              <a:off x="4264097" y="1180331"/>
              <a:ext cx="585001" cy="585530"/>
              <a:chOff x="1970048" y="811613"/>
              <a:chExt cx="588000" cy="588000"/>
            </a:xfrm>
          </p:grpSpPr>
          <p:sp>
            <p:nvSpPr>
              <p:cNvPr id="491" name="Google Shape;491;p42"/>
              <p:cNvSpPr/>
              <p:nvPr/>
            </p:nvSpPr>
            <p:spPr>
              <a:xfrm rot="39023">
                <a:off x="1973329" y="814894"/>
                <a:ext cx="581437" cy="581437"/>
              </a:xfrm>
              <a:prstGeom prst="pie">
                <a:avLst>
                  <a:gd fmla="val 6190354" name="adj1"/>
                  <a:gd fmla="val 14996165" name="adj2"/>
                </a:avLst>
              </a:prstGeom>
              <a:solidFill>
                <a:schemeClr val="accent2"/>
              </a:solidFill>
              <a:ln>
                <a:noFill/>
              </a:ln>
              <a:effectLst>
                <a:outerShdw blurRad="128965" rotWithShape="0" algn="bl">
                  <a:srgbClr val="000000">
                    <a:alpha val="43000"/>
                  </a:srgbClr>
                </a:outerShdw>
              </a:effectLst>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sp>
            <p:nvSpPr>
              <p:cNvPr id="492" name="Google Shape;492;p42"/>
              <p:cNvSpPr/>
              <p:nvPr/>
            </p:nvSpPr>
            <p:spPr>
              <a:xfrm rot="10800000">
                <a:off x="1973295" y="814927"/>
                <a:ext cx="581400" cy="581400"/>
              </a:xfrm>
              <a:prstGeom prst="pie">
                <a:avLst>
                  <a:gd fmla="val 4028252" name="adj1"/>
                  <a:gd fmla="val 17183677" name="adj2"/>
                </a:avLst>
              </a:prstGeom>
              <a:solidFill>
                <a:schemeClr val="accent2"/>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grpSp>
        <p:grpSp>
          <p:nvGrpSpPr>
            <p:cNvPr id="493" name="Google Shape;493;p42"/>
            <p:cNvGrpSpPr/>
            <p:nvPr/>
          </p:nvGrpSpPr>
          <p:grpSpPr>
            <a:xfrm rot="7200165">
              <a:off x="5229930" y="2804716"/>
              <a:ext cx="585011" cy="585536"/>
              <a:chOff x="1977085" y="811649"/>
              <a:chExt cx="588000" cy="588000"/>
            </a:xfrm>
          </p:grpSpPr>
          <p:sp>
            <p:nvSpPr>
              <p:cNvPr id="494" name="Google Shape;494;p42"/>
              <p:cNvSpPr/>
              <p:nvPr/>
            </p:nvSpPr>
            <p:spPr>
              <a:xfrm rot="39023">
                <a:off x="1980366" y="814930"/>
                <a:ext cx="581437" cy="581437"/>
              </a:xfrm>
              <a:prstGeom prst="pie">
                <a:avLst>
                  <a:gd fmla="val 6190354" name="adj1"/>
                  <a:gd fmla="val 14996165" name="adj2"/>
                </a:avLst>
              </a:prstGeom>
              <a:solidFill>
                <a:schemeClr val="accent1"/>
              </a:solidFill>
              <a:ln>
                <a:noFill/>
              </a:ln>
              <a:effectLst>
                <a:outerShdw blurRad="128965" rotWithShape="0" algn="bl">
                  <a:srgbClr val="000000">
                    <a:alpha val="43000"/>
                  </a:srgbClr>
                </a:outerShdw>
              </a:effectLst>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sp>
            <p:nvSpPr>
              <p:cNvPr id="495" name="Google Shape;495;p42"/>
              <p:cNvSpPr/>
              <p:nvPr/>
            </p:nvSpPr>
            <p:spPr>
              <a:xfrm rot="10800000">
                <a:off x="1980332" y="814963"/>
                <a:ext cx="581400" cy="581400"/>
              </a:xfrm>
              <a:prstGeom prst="pie">
                <a:avLst>
                  <a:gd fmla="val 4028252" name="adj1"/>
                  <a:gd fmla="val 17183677" name="adj2"/>
                </a:avLst>
              </a:prstGeom>
              <a:solidFill>
                <a:schemeClr val="accent1"/>
              </a:solidFill>
              <a:ln>
                <a:noFill/>
              </a:ln>
            </p:spPr>
            <p:txBody>
              <a:bodyPr anchorCtr="0" anchor="ctr" bIns="82525" lIns="82525" spcFirstLastPara="1" rIns="82525" wrap="square" tIns="82525">
                <a:noAutofit/>
              </a:bodyPr>
              <a:lstStyle/>
              <a:p>
                <a:pPr indent="0" lvl="0" marL="0" rtl="0" algn="l">
                  <a:spcBef>
                    <a:spcPts val="0"/>
                  </a:spcBef>
                  <a:spcAft>
                    <a:spcPts val="0"/>
                  </a:spcAft>
                  <a:buNone/>
                </a:pPr>
                <a:r>
                  <a:t/>
                </a:r>
                <a:endParaRPr/>
              </a:p>
            </p:txBody>
          </p:sp>
        </p:grpSp>
        <p:sp>
          <p:nvSpPr>
            <p:cNvPr id="496" name="Google Shape;496;p42"/>
            <p:cNvSpPr txBox="1"/>
            <p:nvPr/>
          </p:nvSpPr>
          <p:spPr>
            <a:xfrm>
              <a:off x="4334550" y="1255312"/>
              <a:ext cx="509100" cy="267000"/>
            </a:xfrm>
            <a:prstGeom prst="rect">
              <a:avLst/>
            </a:prstGeom>
            <a:noFill/>
            <a:ln>
              <a:noFill/>
            </a:ln>
          </p:spPr>
          <p:txBody>
            <a:bodyPr anchorCtr="0" anchor="t" bIns="82525" lIns="82525" spcFirstLastPara="1" rIns="82525" wrap="square" tIns="82525">
              <a:noAutofit/>
            </a:bodyPr>
            <a:lstStyle/>
            <a:p>
              <a:pPr indent="0" lvl="0" marL="0" rtl="0" algn="ctr">
                <a:spcBef>
                  <a:spcPts val="0"/>
                </a:spcBef>
                <a:spcAft>
                  <a:spcPts val="0"/>
                </a:spcAft>
                <a:buNone/>
              </a:pPr>
              <a:r>
                <a:rPr b="1" lang="en" sz="1444">
                  <a:solidFill>
                    <a:srgbClr val="FFFFFF"/>
                  </a:solidFill>
                  <a:latin typeface="Roboto"/>
                  <a:ea typeface="Roboto"/>
                  <a:cs typeface="Roboto"/>
                  <a:sym typeface="Roboto"/>
                </a:rPr>
                <a:t>03 </a:t>
              </a:r>
              <a:endParaRPr b="1" sz="1444">
                <a:solidFill>
                  <a:srgbClr val="FFFFFF"/>
                </a:solidFill>
                <a:latin typeface="Roboto"/>
                <a:ea typeface="Roboto"/>
                <a:cs typeface="Roboto"/>
                <a:sym typeface="Roboto"/>
              </a:endParaRPr>
            </a:p>
          </p:txBody>
        </p:sp>
        <p:sp>
          <p:nvSpPr>
            <p:cNvPr id="497" name="Google Shape;497;p42"/>
            <p:cNvSpPr txBox="1"/>
            <p:nvPr/>
          </p:nvSpPr>
          <p:spPr>
            <a:xfrm>
              <a:off x="3375648" y="2887440"/>
              <a:ext cx="509100" cy="267000"/>
            </a:xfrm>
            <a:prstGeom prst="rect">
              <a:avLst/>
            </a:prstGeom>
            <a:noFill/>
            <a:ln>
              <a:noFill/>
            </a:ln>
          </p:spPr>
          <p:txBody>
            <a:bodyPr anchorCtr="0" anchor="t" bIns="82525" lIns="82525" spcFirstLastPara="1" rIns="82525" wrap="square" tIns="82525">
              <a:noAutofit/>
            </a:bodyPr>
            <a:lstStyle/>
            <a:p>
              <a:pPr indent="0" lvl="0" marL="0" rtl="0" algn="ctr">
                <a:spcBef>
                  <a:spcPts val="0"/>
                </a:spcBef>
                <a:spcAft>
                  <a:spcPts val="0"/>
                </a:spcAft>
                <a:buNone/>
              </a:pPr>
              <a:r>
                <a:rPr b="1" lang="en" sz="1444">
                  <a:solidFill>
                    <a:srgbClr val="FFFFFF"/>
                  </a:solidFill>
                  <a:latin typeface="Roboto"/>
                  <a:ea typeface="Roboto"/>
                  <a:cs typeface="Roboto"/>
                  <a:sym typeface="Roboto"/>
                </a:rPr>
                <a:t>01 </a:t>
              </a:r>
              <a:endParaRPr b="1" sz="1444">
                <a:solidFill>
                  <a:srgbClr val="FFFFFF"/>
                </a:solidFill>
                <a:latin typeface="Roboto"/>
                <a:ea typeface="Roboto"/>
                <a:cs typeface="Roboto"/>
                <a:sym typeface="Roboto"/>
              </a:endParaRPr>
            </a:p>
          </p:txBody>
        </p:sp>
        <p:sp>
          <p:nvSpPr>
            <p:cNvPr id="498" name="Google Shape;498;p42"/>
            <p:cNvSpPr txBox="1"/>
            <p:nvPr/>
          </p:nvSpPr>
          <p:spPr>
            <a:xfrm>
              <a:off x="5281886" y="2857852"/>
              <a:ext cx="509100" cy="267000"/>
            </a:xfrm>
            <a:prstGeom prst="rect">
              <a:avLst/>
            </a:prstGeom>
            <a:noFill/>
            <a:ln>
              <a:noFill/>
            </a:ln>
          </p:spPr>
          <p:txBody>
            <a:bodyPr anchorCtr="0" anchor="t" bIns="82525" lIns="82525" spcFirstLastPara="1" rIns="82525" wrap="square" tIns="82525">
              <a:noAutofit/>
            </a:bodyPr>
            <a:lstStyle/>
            <a:p>
              <a:pPr indent="0" lvl="0" marL="0" rtl="0" algn="ctr">
                <a:spcBef>
                  <a:spcPts val="0"/>
                </a:spcBef>
                <a:spcAft>
                  <a:spcPts val="0"/>
                </a:spcAft>
                <a:buNone/>
              </a:pPr>
              <a:r>
                <a:rPr b="1" lang="en" sz="1444">
                  <a:solidFill>
                    <a:srgbClr val="FFFFFF"/>
                  </a:solidFill>
                  <a:latin typeface="Roboto"/>
                  <a:ea typeface="Roboto"/>
                  <a:cs typeface="Roboto"/>
                  <a:sym typeface="Roboto"/>
                </a:rPr>
                <a:t>02 </a:t>
              </a:r>
              <a:endParaRPr b="1" sz="1444">
                <a:solidFill>
                  <a:srgbClr val="FFFFFF"/>
                </a:solidFill>
                <a:latin typeface="Roboto"/>
                <a:ea typeface="Roboto"/>
                <a:cs typeface="Roboto"/>
                <a:sym typeface="Robo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3"/>
          <p:cNvSpPr txBox="1"/>
          <p:nvPr>
            <p:ph type="title"/>
          </p:nvPr>
        </p:nvSpPr>
        <p:spPr>
          <a:xfrm>
            <a:off x="654250" y="366750"/>
            <a:ext cx="7259700" cy="7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Resume Parser Demo</a:t>
            </a:r>
            <a:endParaRPr sz="2600"/>
          </a:p>
        </p:txBody>
      </p:sp>
      <p:pic>
        <p:nvPicPr>
          <p:cNvPr id="504" name="Google Shape;504;p43" title="Final Prototype Demo Video.mov">
            <a:hlinkClick r:id="rId3"/>
          </p:cNvPr>
          <p:cNvPicPr preferRelativeResize="0"/>
          <p:nvPr/>
        </p:nvPicPr>
        <p:blipFill>
          <a:blip r:embed="rId4">
            <a:alphaModFix/>
          </a:blip>
          <a:stretch>
            <a:fillRect/>
          </a:stretch>
        </p:blipFill>
        <p:spPr>
          <a:xfrm>
            <a:off x="2481825" y="1197046"/>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4"/>
          <p:cNvSpPr txBox="1"/>
          <p:nvPr>
            <p:ph type="title"/>
          </p:nvPr>
        </p:nvSpPr>
        <p:spPr>
          <a:xfrm>
            <a:off x="4906325" y="2018175"/>
            <a:ext cx="3585600" cy="7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510" name="Google Shape;510;p44"/>
          <p:cNvSpPr txBox="1"/>
          <p:nvPr>
            <p:ph idx="2" type="title"/>
          </p:nvPr>
        </p:nvSpPr>
        <p:spPr>
          <a:xfrm>
            <a:off x="4963434" y="924863"/>
            <a:ext cx="954000" cy="9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descr="Big Data Technology for Business Finance Concept. (Provided by Getty Images)" id="511" name="Google Shape;511;p44"/>
          <p:cNvPicPr preferRelativeResize="0"/>
          <p:nvPr>
            <p:ph idx="3" type="pic"/>
          </p:nvPr>
        </p:nvPicPr>
        <p:blipFill rotWithShape="1">
          <a:blip r:embed="rId3">
            <a:alphaModFix/>
          </a:blip>
          <a:srcRect b="0" l="27349" r="27349" t="0"/>
          <a:stretch/>
        </p:blipFill>
        <p:spPr>
          <a:xfrm>
            <a:off x="1322338" y="539500"/>
            <a:ext cx="2760602" cy="4064502"/>
          </a:xfrm>
          <a:prstGeom prst="rect">
            <a:avLst/>
          </a:prstGeom>
        </p:spPr>
      </p:pic>
      <p:sp>
        <p:nvSpPr>
          <p:cNvPr id="512" name="Google Shape;512;p44"/>
          <p:cNvSpPr/>
          <p:nvPr/>
        </p:nvSpPr>
        <p:spPr>
          <a:xfrm>
            <a:off x="4963433" y="4179925"/>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3" name="Google Shape;513;p44"/>
          <p:cNvSpPr txBox="1"/>
          <p:nvPr>
            <p:ph idx="4294967295" type="subTitle"/>
          </p:nvPr>
        </p:nvSpPr>
        <p:spPr>
          <a:xfrm>
            <a:off x="4906325" y="2794875"/>
            <a:ext cx="3513900" cy="10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Testing demonstrates accuracy and measurable improvements in speed</a:t>
            </a:r>
            <a:endParaRPr b="1" sz="1800">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5"/>
          <p:cNvSpPr txBox="1"/>
          <p:nvPr>
            <p:ph type="title"/>
          </p:nvPr>
        </p:nvSpPr>
        <p:spPr>
          <a:xfrm>
            <a:off x="645775" y="325750"/>
            <a:ext cx="7259700" cy="81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Resume Testing</a:t>
            </a:r>
            <a:endParaRPr sz="2600"/>
          </a:p>
        </p:txBody>
      </p:sp>
      <p:pic>
        <p:nvPicPr>
          <p:cNvPr id="519" name="Google Shape;519;p45" title="resume_collage.png"/>
          <p:cNvPicPr preferRelativeResize="0"/>
          <p:nvPr>
            <p:ph idx="2" type="pic"/>
          </p:nvPr>
        </p:nvPicPr>
        <p:blipFill rotWithShape="1">
          <a:blip r:embed="rId3">
            <a:alphaModFix/>
          </a:blip>
          <a:srcRect b="3466" l="1637" r="2042" t="11166"/>
          <a:stretch/>
        </p:blipFill>
        <p:spPr>
          <a:xfrm>
            <a:off x="747763" y="1485200"/>
            <a:ext cx="7055724" cy="3517099"/>
          </a:xfrm>
          <a:prstGeom prst="rect">
            <a:avLst/>
          </a:prstGeom>
          <a:noFill/>
          <a:ln>
            <a:noFill/>
          </a:ln>
        </p:spPr>
      </p:pic>
      <p:sp>
        <p:nvSpPr>
          <p:cNvPr id="520" name="Google Shape;520;p45"/>
          <p:cNvSpPr txBox="1"/>
          <p:nvPr/>
        </p:nvSpPr>
        <p:spPr>
          <a:xfrm>
            <a:off x="645775" y="1069700"/>
            <a:ext cx="8607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Raleway"/>
                <a:ea typeface="Raleway"/>
                <a:cs typeface="Raleway"/>
                <a:sym typeface="Raleway"/>
              </a:rPr>
              <a:t>We tested for accuracy across diverse layouts, languages, and industry backgrounds.</a:t>
            </a:r>
            <a:endParaRPr sz="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6"/>
          <p:cNvSpPr/>
          <p:nvPr/>
        </p:nvSpPr>
        <p:spPr>
          <a:xfrm>
            <a:off x="1982975" y="1801150"/>
            <a:ext cx="4822200" cy="26004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Medium"/>
              <a:ea typeface="Raleway Medium"/>
              <a:cs typeface="Raleway Medium"/>
              <a:sym typeface="Raleway Medium"/>
            </a:endParaRPr>
          </a:p>
        </p:txBody>
      </p:sp>
      <p:sp>
        <p:nvSpPr>
          <p:cNvPr id="526" name="Google Shape;526;p46"/>
          <p:cNvSpPr txBox="1"/>
          <p:nvPr>
            <p:ph type="title"/>
          </p:nvPr>
        </p:nvSpPr>
        <p:spPr>
          <a:xfrm>
            <a:off x="654250" y="665125"/>
            <a:ext cx="7259700" cy="87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Our Parser Achieved 95.3% Accuracy and Reduced Completion Time by 84.4%</a:t>
            </a:r>
            <a:endParaRPr sz="2600"/>
          </a:p>
        </p:txBody>
      </p:sp>
      <p:grpSp>
        <p:nvGrpSpPr>
          <p:cNvPr id="527" name="Google Shape;527;p46"/>
          <p:cNvGrpSpPr/>
          <p:nvPr/>
        </p:nvGrpSpPr>
        <p:grpSpPr>
          <a:xfrm>
            <a:off x="2152072" y="1812800"/>
            <a:ext cx="4652948" cy="2600415"/>
            <a:chOff x="2428889" y="621997"/>
            <a:chExt cx="4545226" cy="2925101"/>
          </a:xfrm>
        </p:grpSpPr>
        <p:sp>
          <p:nvSpPr>
            <p:cNvPr id="528" name="Google Shape;528;p46"/>
            <p:cNvSpPr txBox="1"/>
            <p:nvPr/>
          </p:nvSpPr>
          <p:spPr>
            <a:xfrm>
              <a:off x="4023915" y="621997"/>
              <a:ext cx="2950200" cy="976800"/>
            </a:xfrm>
            <a:prstGeom prst="rect">
              <a:avLst/>
            </a:prstGeom>
            <a:noFill/>
            <a:ln>
              <a:noFill/>
            </a:ln>
          </p:spPr>
          <p:txBody>
            <a:bodyPr anchorCtr="0" anchor="ctr" bIns="121925" lIns="0" spcFirstLastPara="1" rIns="0" wrap="square" tIns="121925">
              <a:normAutofit/>
            </a:bodyPr>
            <a:lstStyle/>
            <a:p>
              <a:pPr indent="0" lvl="0" marL="0" rtl="0" algn="l">
                <a:spcBef>
                  <a:spcPts val="0"/>
                </a:spcBef>
                <a:spcAft>
                  <a:spcPts val="0"/>
                </a:spcAft>
                <a:buNone/>
              </a:pPr>
              <a:r>
                <a:rPr lang="en" sz="1500">
                  <a:solidFill>
                    <a:srgbClr val="FFFFFF"/>
                  </a:solidFill>
                  <a:latin typeface="Raleway"/>
                  <a:ea typeface="Raleway"/>
                  <a:cs typeface="Raleway"/>
                  <a:sym typeface="Raleway"/>
                </a:rPr>
                <a:t>Average field-level accuracy across 134 resumes</a:t>
              </a:r>
              <a:endParaRPr sz="1500">
                <a:solidFill>
                  <a:srgbClr val="FFFFFF"/>
                </a:solidFill>
                <a:latin typeface="Raleway"/>
                <a:ea typeface="Raleway"/>
                <a:cs typeface="Raleway"/>
                <a:sym typeface="Raleway"/>
              </a:endParaRPr>
            </a:p>
          </p:txBody>
        </p:sp>
        <p:sp>
          <p:nvSpPr>
            <p:cNvPr id="529" name="Google Shape;529;p46"/>
            <p:cNvSpPr txBox="1"/>
            <p:nvPr/>
          </p:nvSpPr>
          <p:spPr>
            <a:xfrm>
              <a:off x="4023914" y="1587886"/>
              <a:ext cx="2687400" cy="976800"/>
            </a:xfrm>
            <a:prstGeom prst="rect">
              <a:avLst/>
            </a:prstGeom>
            <a:noFill/>
            <a:ln>
              <a:noFill/>
            </a:ln>
          </p:spPr>
          <p:txBody>
            <a:bodyPr anchorCtr="0" anchor="ctr" bIns="121925" lIns="0" spcFirstLastPara="1" rIns="0" wrap="square" tIns="121925">
              <a:noAutofit/>
            </a:bodyPr>
            <a:lstStyle/>
            <a:p>
              <a:pPr indent="0" lvl="0" marL="0" rtl="0" algn="l">
                <a:spcBef>
                  <a:spcPts val="0"/>
                </a:spcBef>
                <a:spcAft>
                  <a:spcPts val="0"/>
                </a:spcAft>
                <a:buNone/>
              </a:pPr>
              <a:r>
                <a:rPr lang="en" sz="1500">
                  <a:solidFill>
                    <a:srgbClr val="FFFFFF"/>
                  </a:solidFill>
                  <a:latin typeface="Raleway"/>
                  <a:ea typeface="Raleway"/>
                  <a:cs typeface="Raleway"/>
                  <a:sym typeface="Raleway"/>
                </a:rPr>
                <a:t>Average profile completion time with parser (vs. 32 min manual)</a:t>
              </a:r>
              <a:endParaRPr sz="1500">
                <a:solidFill>
                  <a:srgbClr val="FFFFFF"/>
                </a:solidFill>
                <a:latin typeface="Raleway"/>
                <a:ea typeface="Raleway"/>
                <a:cs typeface="Raleway"/>
                <a:sym typeface="Raleway"/>
              </a:endParaRPr>
            </a:p>
          </p:txBody>
        </p:sp>
        <p:sp>
          <p:nvSpPr>
            <p:cNvPr id="530" name="Google Shape;530;p46"/>
            <p:cNvSpPr txBox="1"/>
            <p:nvPr/>
          </p:nvSpPr>
          <p:spPr>
            <a:xfrm>
              <a:off x="4027773" y="2564826"/>
              <a:ext cx="2687400" cy="976800"/>
            </a:xfrm>
            <a:prstGeom prst="rect">
              <a:avLst/>
            </a:prstGeom>
            <a:noFill/>
            <a:ln>
              <a:noFill/>
            </a:ln>
          </p:spPr>
          <p:txBody>
            <a:bodyPr anchorCtr="0" anchor="ctr" bIns="121925" lIns="0" spcFirstLastPara="1" rIns="0" wrap="square" tIns="121925">
              <a:noAutofit/>
            </a:bodyPr>
            <a:lstStyle/>
            <a:p>
              <a:pPr indent="0" lvl="0" marL="0" rtl="0" algn="l">
                <a:lnSpc>
                  <a:spcPct val="90000"/>
                </a:lnSpc>
                <a:spcBef>
                  <a:spcPts val="0"/>
                </a:spcBef>
                <a:spcAft>
                  <a:spcPts val="0"/>
                </a:spcAft>
                <a:buNone/>
              </a:pPr>
              <a:r>
                <a:rPr lang="en" sz="1500">
                  <a:solidFill>
                    <a:srgbClr val="FFFFFF"/>
                  </a:solidFill>
                  <a:latin typeface="Raleway"/>
                  <a:ea typeface="Raleway"/>
                  <a:cs typeface="Raleway"/>
                  <a:sym typeface="Raleway"/>
                </a:rPr>
                <a:t>Resumes scored 100% accuracy</a:t>
              </a:r>
              <a:endParaRPr sz="1500">
                <a:solidFill>
                  <a:srgbClr val="FFFFFF"/>
                </a:solidFill>
                <a:latin typeface="Raleway"/>
                <a:ea typeface="Raleway"/>
                <a:cs typeface="Raleway"/>
                <a:sym typeface="Raleway"/>
              </a:endParaRPr>
            </a:p>
          </p:txBody>
        </p:sp>
        <p:sp>
          <p:nvSpPr>
            <p:cNvPr id="531" name="Google Shape;531;p46"/>
            <p:cNvSpPr txBox="1"/>
            <p:nvPr/>
          </p:nvSpPr>
          <p:spPr>
            <a:xfrm>
              <a:off x="2560443" y="622000"/>
              <a:ext cx="1178700" cy="976800"/>
            </a:xfrm>
            <a:prstGeom prst="rect">
              <a:avLst/>
            </a:prstGeom>
            <a:noFill/>
            <a:ln>
              <a:noFill/>
            </a:ln>
          </p:spPr>
          <p:txBody>
            <a:bodyPr anchorCtr="0" anchor="ctr" bIns="121925" lIns="81275" spcFirstLastPara="1" rIns="81275" wrap="square" tIns="121925">
              <a:normAutofit/>
            </a:bodyPr>
            <a:lstStyle/>
            <a:p>
              <a:pPr indent="0" lvl="0" marL="0" rtl="0" algn="l">
                <a:spcBef>
                  <a:spcPts val="0"/>
                </a:spcBef>
                <a:spcAft>
                  <a:spcPts val="0"/>
                </a:spcAft>
                <a:buNone/>
              </a:pPr>
              <a:r>
                <a:rPr b="1" lang="en" sz="2489">
                  <a:solidFill>
                    <a:srgbClr val="FFFFFF"/>
                  </a:solidFill>
                  <a:latin typeface="Raleway"/>
                  <a:ea typeface="Raleway"/>
                  <a:cs typeface="Raleway"/>
                  <a:sym typeface="Raleway"/>
                </a:rPr>
                <a:t>95.3%</a:t>
              </a:r>
              <a:endParaRPr b="1" sz="2489">
                <a:solidFill>
                  <a:srgbClr val="FFFFFF"/>
                </a:solidFill>
                <a:latin typeface="Raleway"/>
                <a:ea typeface="Raleway"/>
                <a:cs typeface="Raleway"/>
                <a:sym typeface="Raleway"/>
              </a:endParaRPr>
            </a:p>
          </p:txBody>
        </p:sp>
        <p:sp>
          <p:nvSpPr>
            <p:cNvPr id="532" name="Google Shape;532;p46"/>
            <p:cNvSpPr txBox="1"/>
            <p:nvPr/>
          </p:nvSpPr>
          <p:spPr>
            <a:xfrm>
              <a:off x="2560443" y="1587875"/>
              <a:ext cx="1178700" cy="976800"/>
            </a:xfrm>
            <a:prstGeom prst="rect">
              <a:avLst/>
            </a:prstGeom>
            <a:noFill/>
            <a:ln>
              <a:noFill/>
            </a:ln>
          </p:spPr>
          <p:txBody>
            <a:bodyPr anchorCtr="0" anchor="ctr" bIns="121925" lIns="81275" spcFirstLastPara="1" rIns="81275" wrap="square" tIns="121925">
              <a:normAutofit/>
            </a:bodyPr>
            <a:lstStyle/>
            <a:p>
              <a:pPr indent="0" lvl="0" marL="0" rtl="0" algn="l">
                <a:spcBef>
                  <a:spcPts val="0"/>
                </a:spcBef>
                <a:spcAft>
                  <a:spcPts val="0"/>
                </a:spcAft>
                <a:buNone/>
              </a:pPr>
              <a:r>
                <a:rPr b="1" lang="en" sz="2489">
                  <a:solidFill>
                    <a:srgbClr val="FFFFFF"/>
                  </a:solidFill>
                  <a:latin typeface="Raleway"/>
                  <a:ea typeface="Raleway"/>
                  <a:cs typeface="Raleway"/>
                  <a:sym typeface="Raleway"/>
                </a:rPr>
                <a:t>5 min</a:t>
              </a:r>
              <a:endParaRPr b="1" sz="2489">
                <a:solidFill>
                  <a:srgbClr val="FFFFFF"/>
                </a:solidFill>
                <a:latin typeface="Raleway"/>
                <a:ea typeface="Raleway"/>
                <a:cs typeface="Raleway"/>
                <a:sym typeface="Raleway"/>
              </a:endParaRPr>
            </a:p>
          </p:txBody>
        </p:sp>
        <p:sp>
          <p:nvSpPr>
            <p:cNvPr id="533" name="Google Shape;533;p46"/>
            <p:cNvSpPr txBox="1"/>
            <p:nvPr/>
          </p:nvSpPr>
          <p:spPr>
            <a:xfrm>
              <a:off x="2560449" y="2512098"/>
              <a:ext cx="1348200" cy="1035000"/>
            </a:xfrm>
            <a:prstGeom prst="rect">
              <a:avLst/>
            </a:prstGeom>
            <a:noFill/>
            <a:ln>
              <a:noFill/>
            </a:ln>
          </p:spPr>
          <p:txBody>
            <a:bodyPr anchorCtr="0" anchor="ctr" bIns="121925" lIns="81275" spcFirstLastPara="1" rIns="81275" wrap="square" tIns="121925">
              <a:normAutofit/>
            </a:bodyPr>
            <a:lstStyle/>
            <a:p>
              <a:pPr indent="0" lvl="0" marL="0" rtl="0" algn="l">
                <a:spcBef>
                  <a:spcPts val="0"/>
                </a:spcBef>
                <a:spcAft>
                  <a:spcPts val="0"/>
                </a:spcAft>
                <a:buNone/>
              </a:pPr>
              <a:r>
                <a:rPr b="1" lang="en" sz="2489">
                  <a:solidFill>
                    <a:srgbClr val="FFFFFF"/>
                  </a:solidFill>
                  <a:latin typeface="Raleway"/>
                  <a:ea typeface="Raleway"/>
                  <a:cs typeface="Raleway"/>
                  <a:sym typeface="Raleway"/>
                </a:rPr>
                <a:t>81.3%</a:t>
              </a:r>
              <a:endParaRPr b="1" sz="2489">
                <a:solidFill>
                  <a:srgbClr val="FFFFFF"/>
                </a:solidFill>
                <a:latin typeface="Raleway"/>
                <a:ea typeface="Raleway"/>
                <a:cs typeface="Raleway"/>
                <a:sym typeface="Raleway"/>
              </a:endParaRPr>
            </a:p>
          </p:txBody>
        </p:sp>
        <p:cxnSp>
          <p:nvCxnSpPr>
            <p:cNvPr id="534" name="Google Shape;534;p46"/>
            <p:cNvCxnSpPr/>
            <p:nvPr/>
          </p:nvCxnSpPr>
          <p:spPr>
            <a:xfrm rot="10800000">
              <a:off x="2428889" y="1598800"/>
              <a:ext cx="4286400" cy="0"/>
            </a:xfrm>
            <a:prstGeom prst="straightConnector1">
              <a:avLst/>
            </a:prstGeom>
            <a:noFill/>
            <a:ln cap="flat" cmpd="sng" w="8475">
              <a:solidFill>
                <a:srgbClr val="FFFFFF"/>
              </a:solidFill>
              <a:prstDash val="solid"/>
              <a:round/>
              <a:headEnd len="med" w="med" type="none"/>
              <a:tailEnd len="med" w="med" type="none"/>
            </a:ln>
          </p:spPr>
        </p:cxnSp>
        <p:cxnSp>
          <p:nvCxnSpPr>
            <p:cNvPr id="535" name="Google Shape;535;p46"/>
            <p:cNvCxnSpPr/>
            <p:nvPr/>
          </p:nvCxnSpPr>
          <p:spPr>
            <a:xfrm rot="10800000">
              <a:off x="2428889" y="2564675"/>
              <a:ext cx="4286400" cy="0"/>
            </a:xfrm>
            <a:prstGeom prst="straightConnector1">
              <a:avLst/>
            </a:prstGeom>
            <a:noFill/>
            <a:ln cap="flat" cmpd="sng" w="8475">
              <a:solidFill>
                <a:srgbClr val="FFFFFF"/>
              </a:solidFill>
              <a:prstDash val="solid"/>
              <a:round/>
              <a:headEnd len="med" w="med" type="none"/>
              <a:tailEnd len="med" w="med" type="none"/>
            </a:ln>
          </p:spPr>
        </p:cxn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7"/>
          <p:cNvSpPr txBox="1"/>
          <p:nvPr>
            <p:ph type="title"/>
          </p:nvPr>
        </p:nvSpPr>
        <p:spPr>
          <a:xfrm>
            <a:off x="4906325" y="2077525"/>
            <a:ext cx="3787800" cy="7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Recommendations</a:t>
            </a:r>
            <a:endParaRPr sz="3100"/>
          </a:p>
        </p:txBody>
      </p:sp>
      <p:sp>
        <p:nvSpPr>
          <p:cNvPr id="541" name="Google Shape;541;p47"/>
          <p:cNvSpPr txBox="1"/>
          <p:nvPr>
            <p:ph idx="2" type="title"/>
          </p:nvPr>
        </p:nvSpPr>
        <p:spPr>
          <a:xfrm>
            <a:off x="4963424" y="924875"/>
            <a:ext cx="1016700" cy="94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pic>
        <p:nvPicPr>
          <p:cNvPr descr="Business people brainsto ideas for business investment strategies, charts and documents for business. (Provided by Getty Images)" id="542" name="Google Shape;542;p47"/>
          <p:cNvPicPr preferRelativeResize="0"/>
          <p:nvPr>
            <p:ph idx="3" type="pic"/>
          </p:nvPr>
        </p:nvPicPr>
        <p:blipFill rotWithShape="1">
          <a:blip r:embed="rId3">
            <a:alphaModFix/>
          </a:blip>
          <a:srcRect b="0" l="27365" r="27365" t="0"/>
          <a:stretch/>
        </p:blipFill>
        <p:spPr>
          <a:xfrm>
            <a:off x="1322338" y="539500"/>
            <a:ext cx="2760602" cy="4064499"/>
          </a:xfrm>
          <a:prstGeom prst="rect">
            <a:avLst/>
          </a:prstGeom>
        </p:spPr>
      </p:pic>
      <p:sp>
        <p:nvSpPr>
          <p:cNvPr id="543" name="Google Shape;543;p47"/>
          <p:cNvSpPr/>
          <p:nvPr/>
        </p:nvSpPr>
        <p:spPr>
          <a:xfrm>
            <a:off x="4963433" y="4179925"/>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4" name="Google Shape;544;p47"/>
          <p:cNvSpPr txBox="1"/>
          <p:nvPr>
            <p:ph idx="4294967295" type="subTitle"/>
          </p:nvPr>
        </p:nvSpPr>
        <p:spPr>
          <a:xfrm>
            <a:off x="4906325" y="2794875"/>
            <a:ext cx="3513900" cy="10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Actionable roadmap to improve conversion</a:t>
            </a:r>
            <a:endParaRPr b="1" sz="1800">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8"/>
          <p:cNvSpPr txBox="1"/>
          <p:nvPr>
            <p:ph type="title"/>
          </p:nvPr>
        </p:nvSpPr>
        <p:spPr>
          <a:xfrm>
            <a:off x="654250" y="665125"/>
            <a:ext cx="7719600" cy="87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Implementation Roadmap</a:t>
            </a:r>
            <a:endParaRPr sz="2600"/>
          </a:p>
        </p:txBody>
      </p:sp>
      <p:sp>
        <p:nvSpPr>
          <p:cNvPr id="550" name="Google Shape;550;p48"/>
          <p:cNvSpPr/>
          <p:nvPr/>
        </p:nvSpPr>
        <p:spPr>
          <a:xfrm>
            <a:off x="1949075" y="2198346"/>
            <a:ext cx="647700" cy="40200"/>
          </a:xfrm>
          <a:prstGeom prst="roundRect">
            <a:avLst>
              <a:gd fmla="val 50000" name="adj"/>
            </a:avLst>
          </a:prstGeom>
          <a:solidFill>
            <a:srgbClr val="A7291E"/>
          </a:solidFill>
          <a:ln>
            <a:noFill/>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grpSp>
        <p:nvGrpSpPr>
          <p:cNvPr id="551" name="Google Shape;551;p48"/>
          <p:cNvGrpSpPr/>
          <p:nvPr/>
        </p:nvGrpSpPr>
        <p:grpSpPr>
          <a:xfrm>
            <a:off x="212685" y="1881252"/>
            <a:ext cx="1912423" cy="2068226"/>
            <a:chOff x="571536" y="1957150"/>
            <a:chExt cx="1755000" cy="1897977"/>
          </a:xfrm>
        </p:grpSpPr>
        <p:sp>
          <p:nvSpPr>
            <p:cNvPr id="552" name="Google Shape;552;p48"/>
            <p:cNvSpPr/>
            <p:nvPr/>
          </p:nvSpPr>
          <p:spPr>
            <a:xfrm>
              <a:off x="1151886" y="1957150"/>
              <a:ext cx="594300" cy="594300"/>
            </a:xfrm>
            <a:prstGeom prst="ellipse">
              <a:avLst/>
            </a:prstGeom>
            <a:noFill/>
            <a:ln cap="flat" cmpd="sng" w="41525">
              <a:solidFill>
                <a:srgbClr val="A7291E"/>
              </a:solidFill>
              <a:prstDash val="solid"/>
              <a:round/>
              <a:headEnd len="sm" w="sm" type="none"/>
              <a:tailEnd len="sm" w="sm" type="none"/>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
          <p:nvSpPr>
            <p:cNvPr id="553" name="Google Shape;553;p48"/>
            <p:cNvSpPr txBox="1"/>
            <p:nvPr/>
          </p:nvSpPr>
          <p:spPr>
            <a:xfrm>
              <a:off x="1230636" y="2118324"/>
              <a:ext cx="436800" cy="3210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b="1" lang="en" sz="872">
                  <a:solidFill>
                    <a:srgbClr val="A7291E"/>
                  </a:solidFill>
                  <a:latin typeface="Raleway"/>
                  <a:ea typeface="Raleway"/>
                  <a:cs typeface="Raleway"/>
                  <a:sym typeface="Raleway"/>
                </a:rPr>
                <a:t>Now</a:t>
              </a:r>
              <a:endParaRPr b="1" sz="872">
                <a:solidFill>
                  <a:srgbClr val="A7291E"/>
                </a:solidFill>
                <a:latin typeface="Raleway"/>
                <a:ea typeface="Raleway"/>
                <a:cs typeface="Raleway"/>
                <a:sym typeface="Raleway"/>
              </a:endParaRPr>
            </a:p>
          </p:txBody>
        </p:sp>
        <p:sp>
          <p:nvSpPr>
            <p:cNvPr id="554" name="Google Shape;554;p48"/>
            <p:cNvSpPr txBox="1"/>
            <p:nvPr/>
          </p:nvSpPr>
          <p:spPr>
            <a:xfrm>
              <a:off x="594488" y="2660925"/>
              <a:ext cx="1709100" cy="446400"/>
            </a:xfrm>
            <a:prstGeom prst="rect">
              <a:avLst/>
            </a:prstGeom>
            <a:noFill/>
            <a:ln>
              <a:noFill/>
            </a:ln>
          </p:spPr>
          <p:txBody>
            <a:bodyPr anchorCtr="0" anchor="b" bIns="99625" lIns="99625" spcFirstLastPara="1" rIns="99625" wrap="square" tIns="99625">
              <a:noAutofit/>
            </a:bodyPr>
            <a:lstStyle/>
            <a:p>
              <a:pPr indent="0" lvl="0" marL="0" rtl="0" algn="ctr">
                <a:lnSpc>
                  <a:spcPct val="115000"/>
                </a:lnSpc>
                <a:spcBef>
                  <a:spcPts val="0"/>
                </a:spcBef>
                <a:spcAft>
                  <a:spcPts val="0"/>
                </a:spcAft>
                <a:buNone/>
              </a:pPr>
              <a:r>
                <a:rPr b="1" lang="en" sz="1090">
                  <a:solidFill>
                    <a:srgbClr val="A7291E"/>
                  </a:solidFill>
                  <a:latin typeface="Raleway"/>
                  <a:ea typeface="Raleway"/>
                  <a:cs typeface="Raleway"/>
                  <a:sym typeface="Raleway"/>
                </a:rPr>
                <a:t>Phase 1: Deploy Parser</a:t>
              </a:r>
              <a:endParaRPr b="1" sz="1090">
                <a:solidFill>
                  <a:srgbClr val="A7291E"/>
                </a:solidFill>
                <a:latin typeface="Raleway"/>
                <a:ea typeface="Raleway"/>
                <a:cs typeface="Raleway"/>
                <a:sym typeface="Raleway"/>
              </a:endParaRPr>
            </a:p>
          </p:txBody>
        </p:sp>
        <p:sp>
          <p:nvSpPr>
            <p:cNvPr id="555" name="Google Shape;555;p48"/>
            <p:cNvSpPr txBox="1"/>
            <p:nvPr/>
          </p:nvSpPr>
          <p:spPr>
            <a:xfrm>
              <a:off x="571536" y="3117727"/>
              <a:ext cx="1755000" cy="7374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lang="en" sz="872">
                  <a:solidFill>
                    <a:srgbClr val="A7291E"/>
                  </a:solidFill>
                  <a:latin typeface="Raleway"/>
                  <a:ea typeface="Raleway"/>
                  <a:cs typeface="Raleway"/>
                  <a:sym typeface="Raleway"/>
                </a:rPr>
                <a:t>Integrate existing proof of concept into onboarding flow. No new infrastructure needed, as the backend proxy is ready. Begin tracking field acceptance rate and completion rate.</a:t>
              </a:r>
              <a:endParaRPr sz="872">
                <a:solidFill>
                  <a:srgbClr val="A7291E"/>
                </a:solidFill>
                <a:latin typeface="Raleway"/>
                <a:ea typeface="Raleway"/>
                <a:cs typeface="Raleway"/>
                <a:sym typeface="Raleway"/>
              </a:endParaRPr>
            </a:p>
          </p:txBody>
        </p:sp>
      </p:grpSp>
      <p:grpSp>
        <p:nvGrpSpPr>
          <p:cNvPr id="556" name="Google Shape;556;p48"/>
          <p:cNvGrpSpPr/>
          <p:nvPr/>
        </p:nvGrpSpPr>
        <p:grpSpPr>
          <a:xfrm>
            <a:off x="2531438" y="1881252"/>
            <a:ext cx="1862412" cy="2068226"/>
            <a:chOff x="2699417" y="1957150"/>
            <a:chExt cx="1709105" cy="1897977"/>
          </a:xfrm>
        </p:grpSpPr>
        <p:sp>
          <p:nvSpPr>
            <p:cNvPr id="557" name="Google Shape;557;p48"/>
            <p:cNvSpPr/>
            <p:nvPr/>
          </p:nvSpPr>
          <p:spPr>
            <a:xfrm>
              <a:off x="3256823" y="1957150"/>
              <a:ext cx="594300" cy="594300"/>
            </a:xfrm>
            <a:prstGeom prst="ellipse">
              <a:avLst/>
            </a:prstGeom>
            <a:noFill/>
            <a:ln cap="flat" cmpd="sng" w="41525">
              <a:solidFill>
                <a:srgbClr val="A7291E"/>
              </a:solidFill>
              <a:prstDash val="solid"/>
              <a:round/>
              <a:headEnd len="sm" w="sm" type="none"/>
              <a:tailEnd len="sm" w="sm" type="none"/>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
          <p:nvSpPr>
            <p:cNvPr id="558" name="Google Shape;558;p48"/>
            <p:cNvSpPr txBox="1"/>
            <p:nvPr/>
          </p:nvSpPr>
          <p:spPr>
            <a:xfrm>
              <a:off x="2699417" y="2753721"/>
              <a:ext cx="1709100" cy="495000"/>
            </a:xfrm>
            <a:prstGeom prst="rect">
              <a:avLst/>
            </a:prstGeom>
            <a:noFill/>
            <a:ln>
              <a:noFill/>
            </a:ln>
          </p:spPr>
          <p:txBody>
            <a:bodyPr anchorCtr="0" anchor="b" bIns="99625" lIns="99625" spcFirstLastPara="1" rIns="99625" wrap="square" tIns="99625">
              <a:noAutofit/>
            </a:bodyPr>
            <a:lstStyle/>
            <a:p>
              <a:pPr indent="0" lvl="0" marL="0" rtl="0" algn="ctr">
                <a:lnSpc>
                  <a:spcPct val="115000"/>
                </a:lnSpc>
                <a:spcBef>
                  <a:spcPts val="0"/>
                </a:spcBef>
                <a:spcAft>
                  <a:spcPts val="0"/>
                </a:spcAft>
                <a:buNone/>
              </a:pPr>
              <a:r>
                <a:rPr b="1" lang="en" sz="1090">
                  <a:solidFill>
                    <a:srgbClr val="A7291E"/>
                  </a:solidFill>
                  <a:latin typeface="Raleway"/>
                  <a:ea typeface="Raleway"/>
                  <a:cs typeface="Raleway"/>
                  <a:sym typeface="Raleway"/>
                </a:rPr>
                <a:t>Phase 2: Redesign Onboarding</a:t>
              </a:r>
              <a:endParaRPr b="1" sz="1090">
                <a:solidFill>
                  <a:srgbClr val="A7291E"/>
                </a:solidFill>
                <a:latin typeface="Raleway"/>
                <a:ea typeface="Raleway"/>
                <a:cs typeface="Raleway"/>
                <a:sym typeface="Raleway"/>
              </a:endParaRPr>
            </a:p>
          </p:txBody>
        </p:sp>
        <p:sp>
          <p:nvSpPr>
            <p:cNvPr id="559" name="Google Shape;559;p48"/>
            <p:cNvSpPr txBox="1"/>
            <p:nvPr/>
          </p:nvSpPr>
          <p:spPr>
            <a:xfrm>
              <a:off x="2699423" y="3117727"/>
              <a:ext cx="1709100" cy="7374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lang="en" sz="872">
                  <a:solidFill>
                    <a:srgbClr val="A7291E"/>
                  </a:solidFill>
                  <a:latin typeface="Raleway"/>
                  <a:ea typeface="Raleway"/>
                  <a:cs typeface="Raleway"/>
                  <a:sym typeface="Raleway"/>
                </a:rPr>
                <a:t>Implement single-page scrolling layout using our prototype. A/B test against current multi-step flow. Measure time-to-completion and drop-off by section.</a:t>
              </a:r>
              <a:endParaRPr sz="872">
                <a:solidFill>
                  <a:srgbClr val="A7291E"/>
                </a:solidFill>
                <a:latin typeface="Raleway"/>
                <a:ea typeface="Raleway"/>
                <a:cs typeface="Raleway"/>
                <a:sym typeface="Raleway"/>
              </a:endParaRPr>
            </a:p>
          </p:txBody>
        </p:sp>
        <p:sp>
          <p:nvSpPr>
            <p:cNvPr id="560" name="Google Shape;560;p48"/>
            <p:cNvSpPr txBox="1"/>
            <p:nvPr/>
          </p:nvSpPr>
          <p:spPr>
            <a:xfrm>
              <a:off x="3267360" y="2038444"/>
              <a:ext cx="561900" cy="3249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b="1" lang="en" sz="872">
                  <a:solidFill>
                    <a:srgbClr val="A7291E"/>
                  </a:solidFill>
                  <a:latin typeface="Raleway"/>
                  <a:ea typeface="Raleway"/>
                  <a:cs typeface="Raleway"/>
                  <a:sym typeface="Raleway"/>
                </a:rPr>
                <a:t>2-4 Weeks</a:t>
              </a:r>
              <a:endParaRPr b="1" sz="872">
                <a:solidFill>
                  <a:srgbClr val="A7291E"/>
                </a:solidFill>
                <a:latin typeface="Raleway"/>
                <a:ea typeface="Raleway"/>
                <a:cs typeface="Raleway"/>
                <a:sym typeface="Raleway"/>
              </a:endParaRPr>
            </a:p>
          </p:txBody>
        </p:sp>
      </p:grpSp>
      <p:grpSp>
        <p:nvGrpSpPr>
          <p:cNvPr id="561" name="Google Shape;561;p48"/>
          <p:cNvGrpSpPr/>
          <p:nvPr/>
        </p:nvGrpSpPr>
        <p:grpSpPr>
          <a:xfrm>
            <a:off x="4800183" y="1881252"/>
            <a:ext cx="1862412" cy="2068223"/>
            <a:chOff x="4781408" y="1957150"/>
            <a:chExt cx="1709106" cy="1897975"/>
          </a:xfrm>
        </p:grpSpPr>
        <p:sp>
          <p:nvSpPr>
            <p:cNvPr id="562" name="Google Shape;562;p48"/>
            <p:cNvSpPr/>
            <p:nvPr/>
          </p:nvSpPr>
          <p:spPr>
            <a:xfrm>
              <a:off x="5338808" y="1957150"/>
              <a:ext cx="594300" cy="594300"/>
            </a:xfrm>
            <a:prstGeom prst="ellipse">
              <a:avLst/>
            </a:prstGeom>
            <a:noFill/>
            <a:ln cap="flat" cmpd="sng" w="41525">
              <a:solidFill>
                <a:srgbClr val="858585"/>
              </a:solidFill>
              <a:prstDash val="solid"/>
              <a:round/>
              <a:headEnd len="sm" w="sm" type="none"/>
              <a:tailEnd len="sm" w="sm" type="none"/>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
          <p:nvSpPr>
            <p:cNvPr id="563" name="Google Shape;563;p48"/>
            <p:cNvSpPr txBox="1"/>
            <p:nvPr/>
          </p:nvSpPr>
          <p:spPr>
            <a:xfrm>
              <a:off x="4781413" y="2783493"/>
              <a:ext cx="1709100" cy="446400"/>
            </a:xfrm>
            <a:prstGeom prst="rect">
              <a:avLst/>
            </a:prstGeom>
            <a:noFill/>
            <a:ln>
              <a:noFill/>
            </a:ln>
          </p:spPr>
          <p:txBody>
            <a:bodyPr anchorCtr="0" anchor="b" bIns="99625" lIns="99625" spcFirstLastPara="1" rIns="99625" wrap="square" tIns="99625">
              <a:noAutofit/>
            </a:bodyPr>
            <a:lstStyle/>
            <a:p>
              <a:pPr indent="0" lvl="0" marL="0" rtl="0" algn="ctr">
                <a:lnSpc>
                  <a:spcPct val="115000"/>
                </a:lnSpc>
                <a:spcBef>
                  <a:spcPts val="0"/>
                </a:spcBef>
                <a:spcAft>
                  <a:spcPts val="0"/>
                </a:spcAft>
                <a:buNone/>
              </a:pPr>
              <a:r>
                <a:rPr b="1" lang="en" sz="1090">
                  <a:solidFill>
                    <a:srgbClr val="858585"/>
                  </a:solidFill>
                  <a:latin typeface="Raleway"/>
                  <a:ea typeface="Raleway"/>
                  <a:cs typeface="Raleway"/>
                  <a:sym typeface="Raleway"/>
                </a:rPr>
                <a:t>Phase 3: Field Rationalization</a:t>
              </a:r>
              <a:endParaRPr b="1" sz="1090">
                <a:solidFill>
                  <a:srgbClr val="858585"/>
                </a:solidFill>
                <a:latin typeface="Raleway"/>
                <a:ea typeface="Raleway"/>
                <a:cs typeface="Raleway"/>
                <a:sym typeface="Raleway"/>
              </a:endParaRPr>
            </a:p>
          </p:txBody>
        </p:sp>
        <p:sp>
          <p:nvSpPr>
            <p:cNvPr id="564" name="Google Shape;564;p48"/>
            <p:cNvSpPr txBox="1"/>
            <p:nvPr/>
          </p:nvSpPr>
          <p:spPr>
            <a:xfrm>
              <a:off x="4781408" y="3117725"/>
              <a:ext cx="1709100" cy="7374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lang="en" sz="872">
                  <a:solidFill>
                    <a:srgbClr val="666666"/>
                  </a:solidFill>
                  <a:latin typeface="Raleway"/>
                  <a:ea typeface="Raleway"/>
                  <a:cs typeface="Raleway"/>
                  <a:sym typeface="Raleway"/>
                </a:rPr>
                <a:t>Apply two-tier required/optional field structure. Remove flagged fields. Show optional fields progressively after profile is submitted.</a:t>
              </a:r>
              <a:endParaRPr sz="872">
                <a:solidFill>
                  <a:srgbClr val="666666"/>
                </a:solidFill>
                <a:latin typeface="Raleway"/>
                <a:ea typeface="Raleway"/>
                <a:cs typeface="Raleway"/>
                <a:sym typeface="Raleway"/>
              </a:endParaRPr>
            </a:p>
          </p:txBody>
        </p:sp>
        <p:sp>
          <p:nvSpPr>
            <p:cNvPr id="565" name="Google Shape;565;p48"/>
            <p:cNvSpPr txBox="1"/>
            <p:nvPr/>
          </p:nvSpPr>
          <p:spPr>
            <a:xfrm>
              <a:off x="5338802" y="2024667"/>
              <a:ext cx="594300" cy="4149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b="1" lang="en" sz="872">
                  <a:solidFill>
                    <a:srgbClr val="858585"/>
                  </a:solidFill>
                  <a:latin typeface="Raleway"/>
                  <a:ea typeface="Raleway"/>
                  <a:cs typeface="Raleway"/>
                  <a:sym typeface="Raleway"/>
                </a:rPr>
                <a:t>4-8 Weeks</a:t>
              </a:r>
              <a:endParaRPr b="1" sz="872">
                <a:solidFill>
                  <a:srgbClr val="858585"/>
                </a:solidFill>
                <a:latin typeface="Raleway"/>
                <a:ea typeface="Raleway"/>
                <a:cs typeface="Raleway"/>
                <a:sym typeface="Raleway"/>
              </a:endParaRPr>
            </a:p>
          </p:txBody>
        </p:sp>
      </p:grpSp>
      <p:grpSp>
        <p:nvGrpSpPr>
          <p:cNvPr id="566" name="Google Shape;566;p48"/>
          <p:cNvGrpSpPr/>
          <p:nvPr/>
        </p:nvGrpSpPr>
        <p:grpSpPr>
          <a:xfrm>
            <a:off x="7068914" y="1881252"/>
            <a:ext cx="1862409" cy="2068226"/>
            <a:chOff x="6863386" y="1957150"/>
            <a:chExt cx="1709102" cy="1897977"/>
          </a:xfrm>
        </p:grpSpPr>
        <p:sp>
          <p:nvSpPr>
            <p:cNvPr id="567" name="Google Shape;567;p48"/>
            <p:cNvSpPr/>
            <p:nvPr/>
          </p:nvSpPr>
          <p:spPr>
            <a:xfrm>
              <a:off x="7420786" y="1957150"/>
              <a:ext cx="594300" cy="594300"/>
            </a:xfrm>
            <a:prstGeom prst="ellipse">
              <a:avLst/>
            </a:prstGeom>
            <a:noFill/>
            <a:ln cap="flat" cmpd="sng" w="41525">
              <a:solidFill>
                <a:srgbClr val="858585"/>
              </a:solidFill>
              <a:prstDash val="solid"/>
              <a:round/>
              <a:headEnd len="sm" w="sm" type="none"/>
              <a:tailEnd len="sm" w="sm" type="none"/>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
          <p:nvSpPr>
            <p:cNvPr id="568" name="Google Shape;568;p48"/>
            <p:cNvSpPr txBox="1"/>
            <p:nvPr/>
          </p:nvSpPr>
          <p:spPr>
            <a:xfrm>
              <a:off x="6863388" y="2768030"/>
              <a:ext cx="1709100" cy="446400"/>
            </a:xfrm>
            <a:prstGeom prst="rect">
              <a:avLst/>
            </a:prstGeom>
            <a:noFill/>
            <a:ln>
              <a:noFill/>
            </a:ln>
          </p:spPr>
          <p:txBody>
            <a:bodyPr anchorCtr="0" anchor="b" bIns="99625" lIns="99625" spcFirstLastPara="1" rIns="99625" wrap="square" tIns="99625">
              <a:noAutofit/>
            </a:bodyPr>
            <a:lstStyle/>
            <a:p>
              <a:pPr indent="0" lvl="0" marL="0" rtl="0" algn="ctr">
                <a:lnSpc>
                  <a:spcPct val="115000"/>
                </a:lnSpc>
                <a:spcBef>
                  <a:spcPts val="0"/>
                </a:spcBef>
                <a:spcAft>
                  <a:spcPts val="0"/>
                </a:spcAft>
                <a:buNone/>
              </a:pPr>
              <a:r>
                <a:rPr b="1" lang="en" sz="1090">
                  <a:solidFill>
                    <a:srgbClr val="858585"/>
                  </a:solidFill>
                  <a:latin typeface="Raleway"/>
                  <a:ea typeface="Raleway"/>
                  <a:cs typeface="Raleway"/>
                  <a:sym typeface="Raleway"/>
                </a:rPr>
                <a:t>Phase 4: Monitor &amp; Expand</a:t>
              </a:r>
              <a:endParaRPr b="1" sz="1090">
                <a:solidFill>
                  <a:srgbClr val="858585"/>
                </a:solidFill>
                <a:latin typeface="Raleway"/>
                <a:ea typeface="Raleway"/>
                <a:cs typeface="Raleway"/>
                <a:sym typeface="Raleway"/>
              </a:endParaRPr>
            </a:p>
          </p:txBody>
        </p:sp>
        <p:sp>
          <p:nvSpPr>
            <p:cNvPr id="569" name="Google Shape;569;p48"/>
            <p:cNvSpPr txBox="1"/>
            <p:nvPr/>
          </p:nvSpPr>
          <p:spPr>
            <a:xfrm>
              <a:off x="6863386" y="3117727"/>
              <a:ext cx="1709100" cy="7374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lang="en" sz="872">
                  <a:solidFill>
                    <a:srgbClr val="666666"/>
                  </a:solidFill>
                  <a:latin typeface="Raleway"/>
                  <a:ea typeface="Raleway"/>
                  <a:cs typeface="Raleway"/>
                  <a:sym typeface="Raleway"/>
                </a:rPr>
                <a:t>Track accuracy drift, expand resume corpus, explore multilingual parsing. Use field acceptance rate to identify fields needing parser improvement.</a:t>
              </a:r>
              <a:endParaRPr sz="872">
                <a:solidFill>
                  <a:srgbClr val="666666"/>
                </a:solidFill>
                <a:latin typeface="Raleway"/>
                <a:ea typeface="Raleway"/>
                <a:cs typeface="Raleway"/>
                <a:sym typeface="Raleway"/>
              </a:endParaRPr>
            </a:p>
          </p:txBody>
        </p:sp>
        <p:sp>
          <p:nvSpPr>
            <p:cNvPr id="570" name="Google Shape;570;p48"/>
            <p:cNvSpPr txBox="1"/>
            <p:nvPr/>
          </p:nvSpPr>
          <p:spPr>
            <a:xfrm>
              <a:off x="7371586" y="2118317"/>
              <a:ext cx="688500" cy="321000"/>
            </a:xfrm>
            <a:prstGeom prst="rect">
              <a:avLst/>
            </a:prstGeom>
            <a:noFill/>
            <a:ln>
              <a:noFill/>
            </a:ln>
          </p:spPr>
          <p:txBody>
            <a:bodyPr anchorCtr="0" anchor="t" bIns="99625" lIns="99625" spcFirstLastPara="1" rIns="99625" wrap="square" tIns="99625">
              <a:noAutofit/>
            </a:bodyPr>
            <a:lstStyle/>
            <a:p>
              <a:pPr indent="0" lvl="0" marL="0" rtl="0" algn="ctr">
                <a:lnSpc>
                  <a:spcPct val="115000"/>
                </a:lnSpc>
                <a:spcBef>
                  <a:spcPts val="0"/>
                </a:spcBef>
                <a:spcAft>
                  <a:spcPts val="1744"/>
                </a:spcAft>
                <a:buNone/>
              </a:pPr>
              <a:r>
                <a:rPr b="1" lang="en" sz="872">
                  <a:solidFill>
                    <a:srgbClr val="858585"/>
                  </a:solidFill>
                  <a:latin typeface="Raleway"/>
                  <a:ea typeface="Raleway"/>
                  <a:cs typeface="Raleway"/>
                  <a:sym typeface="Raleway"/>
                </a:rPr>
                <a:t>Ongoing</a:t>
              </a:r>
              <a:endParaRPr b="1" sz="872">
                <a:solidFill>
                  <a:srgbClr val="858585"/>
                </a:solidFill>
                <a:latin typeface="Raleway"/>
                <a:ea typeface="Raleway"/>
                <a:cs typeface="Raleway"/>
                <a:sym typeface="Raleway"/>
              </a:endParaRPr>
            </a:p>
          </p:txBody>
        </p:sp>
      </p:grpSp>
      <p:sp>
        <p:nvSpPr>
          <p:cNvPr id="571" name="Google Shape;571;p48"/>
          <p:cNvSpPr/>
          <p:nvPr/>
        </p:nvSpPr>
        <p:spPr>
          <a:xfrm>
            <a:off x="4316168" y="2198346"/>
            <a:ext cx="647700" cy="40200"/>
          </a:xfrm>
          <a:prstGeom prst="roundRect">
            <a:avLst>
              <a:gd fmla="val 50000" name="adj"/>
            </a:avLst>
          </a:prstGeom>
          <a:solidFill>
            <a:srgbClr val="858585"/>
          </a:solidFill>
          <a:ln>
            <a:noFill/>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
        <p:nvSpPr>
          <p:cNvPr id="572" name="Google Shape;572;p48"/>
          <p:cNvSpPr/>
          <p:nvPr/>
        </p:nvSpPr>
        <p:spPr>
          <a:xfrm>
            <a:off x="6584928" y="2198346"/>
            <a:ext cx="647700" cy="40200"/>
          </a:xfrm>
          <a:prstGeom prst="roundRect">
            <a:avLst>
              <a:gd fmla="val 50000" name="adj"/>
            </a:avLst>
          </a:prstGeom>
          <a:solidFill>
            <a:srgbClr val="858585"/>
          </a:solidFill>
          <a:ln>
            <a:noFill/>
          </a:ln>
        </p:spPr>
        <p:txBody>
          <a:bodyPr anchorCtr="0" anchor="ctr" bIns="99625" lIns="99625" spcFirstLastPara="1" rIns="99625" wrap="square" tIns="99625">
            <a:noAutofit/>
          </a:bodyPr>
          <a:lstStyle/>
          <a:p>
            <a:pPr indent="0" lvl="0" marL="0" rtl="0" algn="l">
              <a:spcBef>
                <a:spcPts val="0"/>
              </a:spcBef>
              <a:spcAft>
                <a:spcPts val="0"/>
              </a:spcAft>
              <a:buNone/>
            </a:pPr>
            <a:r>
              <a:t/>
            </a:r>
            <a:endParaRPr sz="1526">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9"/>
          <p:cNvSpPr txBox="1"/>
          <p:nvPr>
            <p:ph type="title"/>
          </p:nvPr>
        </p:nvSpPr>
        <p:spPr>
          <a:xfrm>
            <a:off x="2448225" y="2118550"/>
            <a:ext cx="4459200" cy="1017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78" name="Google Shape;578;p49"/>
          <p:cNvSpPr txBox="1"/>
          <p:nvPr>
            <p:ph idx="1" type="subTitle"/>
          </p:nvPr>
        </p:nvSpPr>
        <p:spPr>
          <a:xfrm>
            <a:off x="2817525" y="3212000"/>
            <a:ext cx="3509100" cy="41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Questions &amp; Discussion</a:t>
            </a:r>
            <a:endParaRPr/>
          </a:p>
        </p:txBody>
      </p:sp>
      <p:sp>
        <p:nvSpPr>
          <p:cNvPr id="579" name="Google Shape;579;p49"/>
          <p:cNvSpPr/>
          <p:nvPr/>
        </p:nvSpPr>
        <p:spPr>
          <a:xfrm>
            <a:off x="3847000" y="1514188"/>
            <a:ext cx="14499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80" name="Google Shape;580;p49"/>
          <p:cNvGrpSpPr/>
          <p:nvPr/>
        </p:nvGrpSpPr>
        <p:grpSpPr>
          <a:xfrm>
            <a:off x="0" y="0"/>
            <a:ext cx="1199700" cy="2654850"/>
            <a:chOff x="0" y="0"/>
            <a:chExt cx="1199700" cy="2654850"/>
          </a:xfrm>
        </p:grpSpPr>
        <p:sp>
          <p:nvSpPr>
            <p:cNvPr id="581" name="Google Shape;581;p49"/>
            <p:cNvSpPr/>
            <p:nvPr/>
          </p:nvSpPr>
          <p:spPr>
            <a:xfrm>
              <a:off x="0" y="857100"/>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2" name="Google Shape;582;p49"/>
            <p:cNvSpPr/>
            <p:nvPr/>
          </p:nvSpPr>
          <p:spPr>
            <a:xfrm>
              <a:off x="0" y="0"/>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3" name="Google Shape;583;p49"/>
            <p:cNvSpPr/>
            <p:nvPr/>
          </p:nvSpPr>
          <p:spPr>
            <a:xfrm>
              <a:off x="0" y="17142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4" name="Google Shape;584;p49"/>
            <p:cNvSpPr/>
            <p:nvPr/>
          </p:nvSpPr>
          <p:spPr>
            <a:xfrm>
              <a:off x="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85" name="Google Shape;585;p49"/>
          <p:cNvGrpSpPr/>
          <p:nvPr/>
        </p:nvGrpSpPr>
        <p:grpSpPr>
          <a:xfrm>
            <a:off x="7944300" y="2494350"/>
            <a:ext cx="1199700" cy="2654875"/>
            <a:chOff x="7944300" y="2494350"/>
            <a:chExt cx="1199700" cy="2654875"/>
          </a:xfrm>
        </p:grpSpPr>
        <p:sp>
          <p:nvSpPr>
            <p:cNvPr id="586" name="Google Shape;586;p49"/>
            <p:cNvSpPr/>
            <p:nvPr/>
          </p:nvSpPr>
          <p:spPr>
            <a:xfrm>
              <a:off x="7944300" y="3434891"/>
              <a:ext cx="1199700" cy="85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7" name="Google Shape;587;p49"/>
            <p:cNvSpPr/>
            <p:nvPr/>
          </p:nvSpPr>
          <p:spPr>
            <a:xfrm>
              <a:off x="7944300" y="2577800"/>
              <a:ext cx="1199700" cy="85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8" name="Google Shape;588;p49"/>
            <p:cNvSpPr/>
            <p:nvPr/>
          </p:nvSpPr>
          <p:spPr>
            <a:xfrm>
              <a:off x="7944300" y="4292125"/>
              <a:ext cx="1199700" cy="85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9" name="Google Shape;589;p49"/>
            <p:cNvSpPr/>
            <p:nvPr/>
          </p:nvSpPr>
          <p:spPr>
            <a:xfrm>
              <a:off x="7944300" y="2494350"/>
              <a:ext cx="1199700" cy="160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uccession Planning Project Proposal by Slidesgo">
  <a:themeElements>
    <a:clrScheme name="Simple Light">
      <a:dk1>
        <a:srgbClr val="0E1D35"/>
      </a:dk1>
      <a:lt1>
        <a:srgbClr val="FAFAFA"/>
      </a:lt1>
      <a:dk2>
        <a:srgbClr val="EFEFEF"/>
      </a:dk2>
      <a:lt2>
        <a:srgbClr val="7C8594"/>
      </a:lt2>
      <a:accent1>
        <a:srgbClr val="2B3B5D"/>
      </a:accent1>
      <a:accent2>
        <a:srgbClr val="15253F"/>
      </a:accent2>
      <a:accent3>
        <a:srgbClr val="FFFFFF"/>
      </a:accent3>
      <a:accent4>
        <a:srgbClr val="FFFFFF"/>
      </a:accent4>
      <a:accent5>
        <a:srgbClr val="FFFFFF"/>
      </a:accent5>
      <a:accent6>
        <a:srgbClr val="FFFFFF"/>
      </a:accent6>
      <a:hlink>
        <a:srgbClr val="0E1D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